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7" r:id="rId7"/>
    <p:sldId id="266" r:id="rId8"/>
    <p:sldId id="265" r:id="rId9"/>
    <p:sldId id="264" r:id="rId10"/>
    <p:sldId id="263" r:id="rId11"/>
    <p:sldId id="269" r:id="rId12"/>
    <p:sldId id="268" r:id="rId13"/>
    <p:sldId id="262" r:id="rId14"/>
    <p:sldId id="272" r:id="rId15"/>
    <p:sldId id="271" r:id="rId16"/>
    <p:sldId id="270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5DC"/>
    <a:srgbClr val="0E2841"/>
    <a:srgbClr val="66B9E3"/>
    <a:srgbClr val="6B93E3"/>
    <a:srgbClr val="4E7EDE"/>
    <a:srgbClr val="0072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die Humbert" userId="baad0d9c075282f2" providerId="LiveId" clId="{A5DE2415-4024-4A7D-90E0-623E5FA43662}"/>
    <pc:docChg chg="custSel modSld">
      <pc:chgData name="Claudie Humbert" userId="baad0d9c075282f2" providerId="LiveId" clId="{A5DE2415-4024-4A7D-90E0-623E5FA43662}" dt="2025-10-17T04:18:30.656" v="4867" actId="20577"/>
      <pc:docMkLst>
        <pc:docMk/>
      </pc:docMkLst>
      <pc:sldChg chg="modNotesTx">
        <pc:chgData name="Claudie Humbert" userId="baad0d9c075282f2" providerId="LiveId" clId="{A5DE2415-4024-4A7D-90E0-623E5FA43662}" dt="2025-10-17T03:42:22.295" v="251" actId="20577"/>
        <pc:sldMkLst>
          <pc:docMk/>
          <pc:sldMk cId="1662995103" sldId="257"/>
        </pc:sldMkLst>
      </pc:sldChg>
      <pc:sldChg chg="modNotesTx">
        <pc:chgData name="Claudie Humbert" userId="baad0d9c075282f2" providerId="LiveId" clId="{A5DE2415-4024-4A7D-90E0-623E5FA43662}" dt="2025-10-17T03:44:58.546" v="713" actId="20577"/>
        <pc:sldMkLst>
          <pc:docMk/>
          <pc:sldMk cId="1855035743" sldId="258"/>
        </pc:sldMkLst>
      </pc:sldChg>
      <pc:sldChg chg="modNotesTx">
        <pc:chgData name="Claudie Humbert" userId="baad0d9c075282f2" providerId="LiveId" clId="{A5DE2415-4024-4A7D-90E0-623E5FA43662}" dt="2025-10-17T03:47:21.564" v="1154" actId="20577"/>
        <pc:sldMkLst>
          <pc:docMk/>
          <pc:sldMk cId="2028020166" sldId="259"/>
        </pc:sldMkLst>
      </pc:sldChg>
      <pc:sldChg chg="modNotesTx">
        <pc:chgData name="Claudie Humbert" userId="baad0d9c075282f2" providerId="LiveId" clId="{A5DE2415-4024-4A7D-90E0-623E5FA43662}" dt="2025-10-17T03:48:40.821" v="1215" actId="20577"/>
        <pc:sldMkLst>
          <pc:docMk/>
          <pc:sldMk cId="4030386313" sldId="260"/>
        </pc:sldMkLst>
      </pc:sldChg>
      <pc:sldChg chg="modNotesTx">
        <pc:chgData name="Claudie Humbert" userId="baad0d9c075282f2" providerId="LiveId" clId="{A5DE2415-4024-4A7D-90E0-623E5FA43662}" dt="2025-10-17T03:49:29.902" v="1373" actId="20577"/>
        <pc:sldMkLst>
          <pc:docMk/>
          <pc:sldMk cId="3373255798" sldId="261"/>
        </pc:sldMkLst>
      </pc:sldChg>
      <pc:sldChg chg="modNotesTx">
        <pc:chgData name="Claudie Humbert" userId="baad0d9c075282f2" providerId="LiveId" clId="{A5DE2415-4024-4A7D-90E0-623E5FA43662}" dt="2025-10-17T03:58:28.200" v="2894" actId="20577"/>
        <pc:sldMkLst>
          <pc:docMk/>
          <pc:sldMk cId="3149150110" sldId="262"/>
        </pc:sldMkLst>
      </pc:sldChg>
      <pc:sldChg chg="modNotesTx">
        <pc:chgData name="Claudie Humbert" userId="baad0d9c075282f2" providerId="LiveId" clId="{A5DE2415-4024-4A7D-90E0-623E5FA43662}" dt="2025-10-17T04:14:02.328" v="4865" actId="20577"/>
        <pc:sldMkLst>
          <pc:docMk/>
          <pc:sldMk cId="312741847" sldId="263"/>
        </pc:sldMkLst>
      </pc:sldChg>
      <pc:sldChg chg="modNotesTx">
        <pc:chgData name="Claudie Humbert" userId="baad0d9c075282f2" providerId="LiveId" clId="{A5DE2415-4024-4A7D-90E0-623E5FA43662}" dt="2025-10-17T03:53:46.820" v="2029" actId="20577"/>
        <pc:sldMkLst>
          <pc:docMk/>
          <pc:sldMk cId="3540201970" sldId="264"/>
        </pc:sldMkLst>
      </pc:sldChg>
      <pc:sldChg chg="modNotesTx">
        <pc:chgData name="Claudie Humbert" userId="baad0d9c075282f2" providerId="LiveId" clId="{A5DE2415-4024-4A7D-90E0-623E5FA43662}" dt="2025-10-17T03:52:47.444" v="1854" actId="20577"/>
        <pc:sldMkLst>
          <pc:docMk/>
          <pc:sldMk cId="1320072690" sldId="265"/>
        </pc:sldMkLst>
      </pc:sldChg>
      <pc:sldChg chg="modNotesTx">
        <pc:chgData name="Claudie Humbert" userId="baad0d9c075282f2" providerId="LiveId" clId="{A5DE2415-4024-4A7D-90E0-623E5FA43662}" dt="2025-10-17T03:51:51.211" v="1748" actId="20577"/>
        <pc:sldMkLst>
          <pc:docMk/>
          <pc:sldMk cId="3623839002" sldId="266"/>
        </pc:sldMkLst>
      </pc:sldChg>
      <pc:sldChg chg="modNotesTx">
        <pc:chgData name="Claudie Humbert" userId="baad0d9c075282f2" providerId="LiveId" clId="{A5DE2415-4024-4A7D-90E0-623E5FA43662}" dt="2025-10-17T03:49:59.501" v="1462" actId="20577"/>
        <pc:sldMkLst>
          <pc:docMk/>
          <pc:sldMk cId="1648515415" sldId="267"/>
        </pc:sldMkLst>
      </pc:sldChg>
      <pc:sldChg chg="modNotesTx">
        <pc:chgData name="Claudie Humbert" userId="baad0d9c075282f2" providerId="LiveId" clId="{A5DE2415-4024-4A7D-90E0-623E5FA43662}" dt="2025-10-17T03:56:55.995" v="2565" actId="20577"/>
        <pc:sldMkLst>
          <pc:docMk/>
          <pc:sldMk cId="3822641856" sldId="268"/>
        </pc:sldMkLst>
      </pc:sldChg>
      <pc:sldChg chg="modNotesTx">
        <pc:chgData name="Claudie Humbert" userId="baad0d9c075282f2" providerId="LiveId" clId="{A5DE2415-4024-4A7D-90E0-623E5FA43662}" dt="2025-10-17T03:55:57.164" v="2375" actId="20577"/>
        <pc:sldMkLst>
          <pc:docMk/>
          <pc:sldMk cId="3833376768" sldId="269"/>
        </pc:sldMkLst>
      </pc:sldChg>
      <pc:sldChg chg="modNotesTx">
        <pc:chgData name="Claudie Humbert" userId="baad0d9c075282f2" providerId="LiveId" clId="{A5DE2415-4024-4A7D-90E0-623E5FA43662}" dt="2025-10-17T04:18:30.656" v="4867" actId="20577"/>
        <pc:sldMkLst>
          <pc:docMk/>
          <pc:sldMk cId="903934992" sldId="270"/>
        </pc:sldMkLst>
      </pc:sldChg>
      <pc:sldChg chg="modNotesTx">
        <pc:chgData name="Claudie Humbert" userId="baad0d9c075282f2" providerId="LiveId" clId="{A5DE2415-4024-4A7D-90E0-623E5FA43662}" dt="2025-10-17T04:04:02.236" v="4138" actId="20577"/>
        <pc:sldMkLst>
          <pc:docMk/>
          <pc:sldMk cId="4040391159" sldId="271"/>
        </pc:sldMkLst>
      </pc:sldChg>
      <pc:sldChg chg="modNotesTx">
        <pc:chgData name="Claudie Humbert" userId="baad0d9c075282f2" providerId="LiveId" clId="{A5DE2415-4024-4A7D-90E0-623E5FA43662}" dt="2025-10-17T04:02:40.407" v="3839" actId="20577"/>
        <pc:sldMkLst>
          <pc:docMk/>
          <pc:sldMk cId="1229402195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5168B-64CC-4C38-BB8D-84949EB469FA}" type="datetimeFigureOut">
              <a:rPr lang="fr-FR" smtClean="0"/>
              <a:t>17/10/2025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285142-91F1-4CF3-929F-601498B0C1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968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* Etude sur l’alimentation dans le monde</a:t>
            </a:r>
          </a:p>
          <a:p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Travail qui s’inscrit dans une démarche de compréhension des enjeux liés à la sous-nutrition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 Photo de Kevin Carter en 1993 au Soudan pour illustrer la gravité du sujet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211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L’objectif est de mieux comprendre comment ls ressources sont distribuées et utilisées à travers le monde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789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Préparation des fichiers =&gt; harmonisation des unités, correction des données manquantes et structuration des colonnes </a:t>
            </a:r>
          </a:p>
          <a:p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Calcul de la sous nutrition population/sous-nutrition*100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 Nombre théorique de personne pouvant être nourris (1964kCal/j selon santé publique France) calculé en faisant la somme des Kcal/pers/j de l’ensemble de la population/1964kcal)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076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La faim dans le monde est donc un défi majeur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7409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chiffre dépasse largement la population réelle, ce qui montre que le problème n’est pas la quantité produite mais peut-être sa répartition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87730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Cela soulève des questions sur l’usage des ressources végétales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7659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Pour cela ont va pouvoir déjà voir la disponibilité intérieure dans sont entièreté</a:t>
            </a:r>
          </a:p>
          <a:p>
            <a:endParaRPr lang="fr-FR" dirty="0"/>
          </a:p>
          <a:p>
            <a:r>
              <a:rPr lang="fr-FR" dirty="0"/>
              <a:t>Cette répartition permet de mieux comprendre comment les ressources sont utilisées mondialement</a:t>
            </a:r>
          </a:p>
          <a:p>
            <a:endParaRPr lang="fr-FR" dirty="0"/>
          </a:p>
          <a:p>
            <a:r>
              <a:rPr lang="fr-FR" dirty="0"/>
              <a:t>Traitement : Agroalimentaire(farine)/</a:t>
            </a:r>
            <a:r>
              <a:rPr lang="fr-FR" dirty="0" err="1"/>
              <a:t>bioétanole</a:t>
            </a:r>
            <a:r>
              <a:rPr lang="fr-FR" dirty="0"/>
              <a:t>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754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Cela interroge sur les choix agricoles et les priorités en matière de sécurité alimentaire de chaque pays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71209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Commençons par le top 10 des pays en sous-nutrition</a:t>
            </a:r>
          </a:p>
          <a:p>
            <a:endParaRPr lang="fr-F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Pays en conflits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Pays subissant des catastrophes naturelles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dirty="0"/>
              <a:t> Choix politique (isolement Coré du Nord)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1258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Ensuite les top 10 des pays ayant eu le plus d’aide, </a:t>
            </a:r>
          </a:p>
          <a:p>
            <a:endParaRPr lang="fr-FR" dirty="0"/>
          </a:p>
          <a:p>
            <a:r>
              <a:rPr lang="fr-FR" dirty="0"/>
              <a:t>On retrouve le Soudan de la photo de Kevin Carter</a:t>
            </a:r>
          </a:p>
          <a:p>
            <a:endParaRPr lang="fr-FR" dirty="0"/>
          </a:p>
          <a:p>
            <a:r>
              <a:rPr lang="fr-FR" dirty="0"/>
              <a:t>Pays en conflit ou subissant des sécheresses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05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observe des variations importantes d’une année à l’autre avec parfois un </a:t>
            </a:r>
            <a:r>
              <a:rPr lang="fr-FR" dirty="0" err="1"/>
              <a:t>arret</a:t>
            </a:r>
            <a:r>
              <a:rPr lang="fr-FR" dirty="0"/>
              <a:t> brutale</a:t>
            </a:r>
          </a:p>
          <a:p>
            <a:endParaRPr lang="fr-FR" dirty="0"/>
          </a:p>
          <a:p>
            <a:r>
              <a:rPr lang="fr-FR" dirty="0"/>
              <a:t>Lié aux conflits ou à des décisions politique, manque de financement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524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Certains pays disposent eux d’une abondance alimentaire par habitant, ce qui s’explique par leur niveau de développement, leur capacité agricole ou des échanges commerciaux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0657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 l’inverse d’autres pays ont une disponibilité très faible, ce qui les rend particulièrement vulnérable, que ce soit a cause de catastrophe naturelle, de sécheresse ou d’un épuisement des sols (Madagascar) mais encore d’un manque d’infrastructure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2152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choix économiques peuvent parfois entrée en contradiction avec les enjeux de sécurité alimentaire locale,</a:t>
            </a:r>
          </a:p>
          <a:p>
            <a:endParaRPr lang="fr-FR" dirty="0"/>
          </a:p>
          <a:p>
            <a:r>
              <a:rPr lang="fr-FR" dirty="0"/>
              <a:t>Hors les difficultés rurales, il est aussi important de prendre les échanges économiques avec les autres pays en compte. </a:t>
            </a:r>
          </a:p>
          <a:p>
            <a:endParaRPr lang="fr-FR" dirty="0"/>
          </a:p>
          <a:p>
            <a:r>
              <a:rPr lang="fr-FR" dirty="0"/>
              <a:t>Le manioc à une forte demande à l’international, pour l’agroalimentaire, le bioéthanol, l’alimentation animal évidemment mais aussi les besoins </a:t>
            </a:r>
            <a:r>
              <a:rPr lang="fr-FR" dirty="0" err="1"/>
              <a:t>pharmacetique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L’un des plus gros importateurs est la Chine, qui à d’ailleurs des accords commerciaux avec la </a:t>
            </a:r>
            <a:r>
              <a:rPr lang="fr-FR" dirty="0" err="1"/>
              <a:t>Thailande</a:t>
            </a:r>
            <a:r>
              <a:rPr lang="fr-FR" dirty="0"/>
              <a:t> et qui en échange de cette denrées alimentaire entre autres, permet à ce pays d’obtenir des machines, de l’</a:t>
            </a:r>
            <a:r>
              <a:rPr lang="fr-FR" dirty="0" err="1"/>
              <a:t>electronique</a:t>
            </a:r>
            <a:r>
              <a:rPr lang="fr-FR" dirty="0"/>
              <a:t>, des véhicules pour continuer d’exploiter cette culture, mais également des produits pharmaceutique ou médicale.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8133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L’économie mondiale permet difficilement de soutenir des aides alimentaires sur le long terme, et malgré l’augmentation de la population, cette aide à tendance à diminuer par un manque de financement des états. La sous-nutrition de sont coté progresse de plus en plus rapidement.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70546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faut garder à l’esprit que c’est 7% sont peut-être bien </a:t>
            </a:r>
            <a:r>
              <a:rPr lang="fr-FR"/>
              <a:t>en deca </a:t>
            </a:r>
            <a:r>
              <a:rPr lang="fr-FR" dirty="0"/>
              <a:t>de la réalité,  il existe certainement un manque de déclaration des états sur la réalité de la sous-nutrition.</a:t>
            </a:r>
          </a:p>
          <a:p>
            <a:endParaRPr lang="fr-FR" dirty="0"/>
          </a:p>
          <a:p>
            <a:r>
              <a:rPr lang="fr-FR" dirty="0"/>
              <a:t>Au </a:t>
            </a:r>
            <a:r>
              <a:rPr lang="fr-FR" dirty="0" err="1"/>
              <a:t>dela</a:t>
            </a:r>
            <a:r>
              <a:rPr lang="fr-FR" dirty="0"/>
              <a:t> d’un problème de répartition des ressources, le problème de la sous-nutrition est bien plus complexe. Que ce soit à cause de conflits, de catastrophe naturelle ou de décisions politique. Il est essentiel de repenser les systèmes alimentaires, de renforcer l’aide ciblé pour promouvoir une gestion plus équitable des ressources.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285142-91F1-4CF3-929F-601498B0C11E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464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CBE71D-5C78-B7DB-9F21-E3D3BF4E2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9CB39AF-2C9A-B55B-D3F4-7B5AE313B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304236-2693-EE4D-7558-D342989CF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AAF2-1A00-4682-9373-F2D2EC115A1E}" type="datetime1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15021C-89BF-890C-E36E-4FEDF3B8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25FD12-6792-5423-3F3F-14C50E64C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02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351D24-63C2-2C58-3EEC-26E956C6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01813E-BB33-0377-29BC-9664C2052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CFFC9F-9681-84DD-D40B-18309213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65487-1C47-466C-9FFA-D3D5A735A09F}" type="datetime1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A11518-3159-A820-5A22-205DB9143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C9DFF6-2896-1C5A-DC09-8F0171C8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68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30C51F-8F77-5661-8E3C-A0E5A56AC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25C7F3-2A06-8C59-6AA5-EB949649C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45CA36-0180-C884-9E71-F14D7FE13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0FEC-D32B-497E-9D40-082C81AFAE3D}" type="datetime1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44CF8E-BA0E-0B8D-3609-C6CA6D7EA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008F3F8-FDCB-72A7-8D12-B9EABD52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430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35CCA0-7EE8-138E-ADD5-3209FE05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D39596-6BCC-3F3D-C04E-C2F8DEE0F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6A7E4A-3A0D-282B-16AB-7E4E8D564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7FDD1B-5312-16DC-2EC5-09A98B0B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A9D62-0F4D-4BAA-9F9D-77B120BAE6FB}" type="datetime1">
              <a:rPr lang="fr-FR" smtClean="0"/>
              <a:t>17/10/2025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F20AC1-2A50-3BBA-0F0B-24E8B5FC8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8D7BB9-2EDB-29AA-E892-5614FABE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98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2885AB-6341-0493-DA25-7224160E3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E5E6DB-B0DB-4CA0-CBB6-D2A1301E3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1727A4-61A4-6580-2D98-B7FE9BA9D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4B4FCBE-18D5-700B-3A3C-50FC65CA5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1D4D52-0289-79DC-AF23-7865E9853F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64709A7-47F4-EB2C-8676-79DC5BBF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F40AB-516E-4A33-9660-DA4A13FFBC91}" type="datetime1">
              <a:rPr lang="fr-FR" smtClean="0"/>
              <a:t>17/10/2025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D2AA34C-DBEF-CAAA-9A61-9D6064CB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9856FB-7735-C189-306D-0A033A04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248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1E471F-2665-AAE5-20EE-BF05CE41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FC5E653-76E9-08AD-4A2F-2D79E8E4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A7A8A-9C17-4578-A779-68A7EC726582}" type="datetime1">
              <a:rPr lang="fr-FR" smtClean="0"/>
              <a:t>17/10/2025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A73308A-EA6A-941D-DE56-296545EAD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F8A10F-4B86-C28A-C701-E0FEFFD5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030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E45725-C4C8-53E1-4A58-B54747D5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1C060-6FF5-414D-8E03-BB57077050F1}" type="datetime1">
              <a:rPr lang="fr-FR" smtClean="0"/>
              <a:t>17/10/2025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FB98A72-4677-2BFB-8D1E-3E8E9809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A86E1A-22F0-479A-19A2-40FBB7AA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547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BBA10F-54E6-1133-3155-2EC976597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179451-3762-7E1A-E79E-6B00F5AD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506406-9A08-2F62-88B3-6073D83AD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F8C6AF-FCED-A7F9-5AF5-47859165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83AD-7DFA-4FD2-A1CF-B10A326EEC53}" type="datetime1">
              <a:rPr lang="fr-FR" smtClean="0"/>
              <a:t>17/10/2025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C6403F-59F6-FCDA-9C07-57F06078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FDB04E-0310-AAE1-575E-D7B53A71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75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95E94-7FAB-B267-EB3B-EF3602064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C633BF5-4AEA-4203-A6C7-E26C70AD5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89B8BA-CD32-3A11-8D09-1D9830DC2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F6005CB-E53B-F848-E7C1-30CE1BBC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EE5E-D167-49C8-9220-42AB1FE3D461}" type="datetime1">
              <a:rPr lang="fr-FR" smtClean="0"/>
              <a:t>17/10/2025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5F1024-4C3E-4E27-76A9-473B024E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8846E33-065C-23B3-DFBA-1A602434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563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E7136A-D6B3-766E-0B67-82F04831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317D2B-A0B7-AD5F-1CC1-F8E3919A5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F46B7E-4474-0FF1-22C8-373E22F2F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9AB4-D7D4-4E87-8109-7F1A1CBC1CD1}" type="datetime1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8A98AE-9FBC-43B5-8310-72B6438E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D4DC4F-C277-A794-27D8-DF99C3ED4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582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41D5E3-C6E6-959D-247C-293634A19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C9AFE2E-198B-A00A-B190-202D88939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DF0B98-5303-2B6B-1B8A-4BE61129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C34E-4354-4AEB-AE56-667CE9B86BD1}" type="datetime1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953B22-6F30-1318-E8AD-95A3A8DB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89B480-0EB2-9CD0-F45E-26014FFF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92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EE7EE7-C859-66AD-174C-7E57903F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AE53D6-A0CB-810E-5E5B-ABC754226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5B9D96-7330-4837-EE83-34374A95B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6C1D1-D6DA-4E07-8934-271BAF4FC0AE}" type="datetime1">
              <a:rPr lang="fr-FR" smtClean="0"/>
              <a:t>17/10/2025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0BD824-2EE2-24F6-55BC-2B2CADBF7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3FA6C7-E2AF-5443-CACB-56ECB16BE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E7843B-FBBD-41F1-AA12-7260D465AC8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9129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1;p1">
            <a:extLst>
              <a:ext uri="{FF2B5EF4-FFF2-40B4-BE49-F238E27FC236}">
                <a16:creationId xmlns:a16="http://schemas.microsoft.com/office/drawing/2014/main" id="{E588DFF8-8EFF-69BE-05AC-5782AA700176}"/>
              </a:ext>
            </a:extLst>
          </p:cNvPr>
          <p:cNvSpPr/>
          <p:nvPr/>
        </p:nvSpPr>
        <p:spPr>
          <a:xfrm rot="162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E28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 3" descr="Une image contenant texte, Police, logo, conception&#10;&#10;Le contenu généré par l’IA peut être incorrect.">
            <a:extLst>
              <a:ext uri="{FF2B5EF4-FFF2-40B4-BE49-F238E27FC236}">
                <a16:creationId xmlns:a16="http://schemas.microsoft.com/office/drawing/2014/main" id="{89EB0C57-4656-3F1F-B4D7-037D5B3A6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353" y="0"/>
            <a:ext cx="3219647" cy="130016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E91C66F-18B4-AC6E-956A-DE721F2C177D}"/>
              </a:ext>
            </a:extLst>
          </p:cNvPr>
          <p:cNvSpPr txBox="1"/>
          <p:nvPr/>
        </p:nvSpPr>
        <p:spPr>
          <a:xfrm>
            <a:off x="1087587" y="2509230"/>
            <a:ext cx="3381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</a:rPr>
              <a:t>Julien </a:t>
            </a:r>
            <a:r>
              <a:rPr lang="fr-FR" sz="2800" dirty="0" err="1">
                <a:solidFill>
                  <a:schemeClr val="bg1"/>
                </a:solidFill>
              </a:rPr>
              <a:t>Laole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</a:rPr>
              <a:t>&amp; 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</a:rPr>
              <a:t>Claudie Humbert </a:t>
            </a:r>
          </a:p>
          <a:p>
            <a:pPr algn="ctr"/>
            <a:r>
              <a:rPr lang="fr-FR" sz="2800" dirty="0">
                <a:solidFill>
                  <a:schemeClr val="bg1"/>
                </a:solidFill>
              </a:rPr>
              <a:t>FAO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BF4F582-449D-5BD7-603E-331D0A2AD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731" y="2680424"/>
            <a:ext cx="5167682" cy="3289375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A60D43F-2258-2B82-21A5-3C359B6B4BA4}"/>
              </a:ext>
            </a:extLst>
          </p:cNvPr>
          <p:cNvSpPr txBox="1"/>
          <p:nvPr/>
        </p:nvSpPr>
        <p:spPr>
          <a:xfrm>
            <a:off x="5447341" y="1874987"/>
            <a:ext cx="7050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6B93E3"/>
                </a:solidFill>
              </a:rPr>
              <a:t>Etude sur l’alimentation dans le monde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27F22A1-E7DA-61A4-7404-AD4B1DE0555E}"/>
              </a:ext>
            </a:extLst>
          </p:cNvPr>
          <p:cNvSpPr txBox="1"/>
          <p:nvPr/>
        </p:nvSpPr>
        <p:spPr>
          <a:xfrm>
            <a:off x="9238008" y="5969799"/>
            <a:ext cx="46634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Kevin Carter en 1993, Soudan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A98E42E-B9B4-245D-8281-87F097750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995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60AAC-A2D9-FDC1-556F-F47BAF17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1E3D0C-82FD-D66F-EC1A-862B36699183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76C59ED5-7A42-ED3A-CCF8-31110C98C4F7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7945413-46F2-9D5C-9037-734788D02689}"/>
              </a:ext>
            </a:extLst>
          </p:cNvPr>
          <p:cNvSpPr txBox="1"/>
          <p:nvPr/>
        </p:nvSpPr>
        <p:spPr>
          <a:xfrm>
            <a:off x="3447287" y="235511"/>
            <a:ext cx="5297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Contexte et spécification des données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A94BA21-3801-3D8F-17CF-2629376CCE7B}"/>
              </a:ext>
            </a:extLst>
          </p:cNvPr>
          <p:cNvSpPr txBox="1"/>
          <p:nvPr/>
        </p:nvSpPr>
        <p:spPr>
          <a:xfrm>
            <a:off x="2326003" y="1551705"/>
            <a:ext cx="75289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6B93E3"/>
                </a:solidFill>
              </a:rPr>
              <a:t>Etude de la sous-nutrition à travers le monde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04A6B8E-B8DA-69A5-1129-A2DAC862F51F}"/>
              </a:ext>
            </a:extLst>
          </p:cNvPr>
          <p:cNvSpPr txBox="1"/>
          <p:nvPr/>
        </p:nvSpPr>
        <p:spPr>
          <a:xfrm>
            <a:off x="545227" y="2566976"/>
            <a:ext cx="11090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1800" b="1" dirty="0"/>
              <a:t>Dans l’optique d’aider à construire un monde libéré de la faim, il est important de comprendre la gestion des ressources alimentaires.</a:t>
            </a: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endParaRPr lang="fr-FR" b="1" dirty="0">
              <a:solidFill>
                <a:srgbClr val="6B93E3"/>
              </a:solidFill>
            </a:endParaRPr>
          </a:p>
          <a:p>
            <a:pPr>
              <a:buClr>
                <a:schemeClr val="bg1"/>
              </a:buClr>
            </a:pPr>
            <a:endParaRPr lang="fr-FR" b="1" dirty="0">
              <a:solidFill>
                <a:srgbClr val="6B93E3"/>
              </a:solidFill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1800" b="1" dirty="0">
                <a:solidFill>
                  <a:srgbClr val="6B93E3"/>
                </a:solidFill>
              </a:rPr>
              <a:t>La disponibilité alimentaire </a:t>
            </a:r>
            <a:r>
              <a:rPr lang="fr-FR" dirty="0"/>
              <a:t>de l’année 2017 pour chaque pays, avec les produits alimentaires, l’origine de ceux-ci, leurs détails nutritionnels ainsi que leurs moyens d’acquisition </a:t>
            </a:r>
          </a:p>
          <a:p>
            <a:pPr>
              <a:buClr>
                <a:schemeClr val="bg1"/>
              </a:buClr>
            </a:pPr>
            <a:endParaRPr lang="fr-FR" dirty="0"/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1800" b="1" dirty="0">
                <a:solidFill>
                  <a:srgbClr val="6B93E3"/>
                </a:solidFill>
              </a:rPr>
              <a:t>La population </a:t>
            </a:r>
            <a:r>
              <a:rPr lang="fr-FR" dirty="0"/>
              <a:t>par pays et par année</a:t>
            </a:r>
          </a:p>
          <a:p>
            <a:pPr>
              <a:buClr>
                <a:schemeClr val="bg1"/>
              </a:buClr>
            </a:pPr>
            <a:endParaRPr lang="fr-FR" dirty="0"/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1800" b="1" dirty="0">
                <a:solidFill>
                  <a:srgbClr val="6B93E3"/>
                </a:solidFill>
              </a:rPr>
              <a:t>L’aide-alimentaire</a:t>
            </a:r>
            <a:r>
              <a:rPr lang="fr-FR" dirty="0"/>
              <a:t> contient les pays bénéficiaires avec l’année, les produits et quantités</a:t>
            </a:r>
          </a:p>
          <a:p>
            <a:pPr>
              <a:buClr>
                <a:schemeClr val="bg1"/>
              </a:buClr>
            </a:pPr>
            <a:endParaRPr lang="fr-FR" dirty="0"/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fr-FR" sz="1800" b="1" dirty="0">
                <a:solidFill>
                  <a:srgbClr val="6B93E3"/>
                </a:solidFill>
              </a:rPr>
              <a:t>La sous-nutrition </a:t>
            </a:r>
            <a:r>
              <a:rPr lang="fr-FR" dirty="0"/>
              <a:t>des habitants pour chaque pays pour des intervalles d’années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40C52582-C421-A3D4-906B-2BAB939D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503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6E310-58F8-C4D4-8CC9-58F1F092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FF03AE3-F202-3624-E699-7474E27E2CE6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862F3A37-5298-7B57-B006-667D107613D0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8AF97F1-A9C8-34E6-1311-FB8D68314DAC}"/>
              </a:ext>
            </a:extLst>
          </p:cNvPr>
          <p:cNvSpPr txBox="1"/>
          <p:nvPr/>
        </p:nvSpPr>
        <p:spPr>
          <a:xfrm>
            <a:off x="4262056" y="235511"/>
            <a:ext cx="366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Méthodologie de l’analyse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8C9E357-D275-7CFF-05AA-AB0368AC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DB81F78-E94E-7B15-1009-C83C40606493}"/>
              </a:ext>
            </a:extLst>
          </p:cNvPr>
          <p:cNvSpPr txBox="1"/>
          <p:nvPr/>
        </p:nvSpPr>
        <p:spPr>
          <a:xfrm>
            <a:off x="2055876" y="1034534"/>
            <a:ext cx="8080248" cy="3885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>
                <a:solidFill>
                  <a:srgbClr val="6B93E3"/>
                </a:solidFill>
              </a:rPr>
              <a:t>Point clé de l’analyse :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Préparation des fichiers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Calcul du taux de sous-nutrition</a:t>
            </a:r>
          </a:p>
          <a:p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Calcul du nombre théorique de personnes pouvant être nourries</a:t>
            </a:r>
          </a:p>
          <a:p>
            <a:r>
              <a:rPr lang="fr-FR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Analyse de la disponibilité intérieure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Exploration des données sur les céréales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Prise de l’exemple de la Thaïlande pour l’export des denrées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 Suivi de l’évolution de la sous-nutrition dans le temps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0ACE3C4-297A-CD14-C81E-E46F3249640B}"/>
              </a:ext>
            </a:extLst>
          </p:cNvPr>
          <p:cNvSpPr txBox="1"/>
          <p:nvPr/>
        </p:nvSpPr>
        <p:spPr>
          <a:xfrm>
            <a:off x="1871472" y="5156021"/>
            <a:ext cx="8449056" cy="1200329"/>
          </a:xfrm>
          <a:prstGeom prst="rect">
            <a:avLst/>
          </a:prstGeom>
          <a:noFill/>
          <a:ln w="19050">
            <a:solidFill>
              <a:srgbClr val="4095D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 </a:t>
            </a:r>
            <a:r>
              <a:rPr lang="fr-FR" b="1" dirty="0">
                <a:solidFill>
                  <a:srgbClr val="6B93E3"/>
                </a:solidFill>
              </a:rPr>
              <a:t>R</a:t>
            </a:r>
            <a:r>
              <a:rPr lang="fr-FR" dirty="0"/>
              <a:t>èglement </a:t>
            </a:r>
            <a:r>
              <a:rPr lang="fr-FR" b="1" dirty="0">
                <a:solidFill>
                  <a:srgbClr val="6B93E3"/>
                </a:solidFill>
              </a:rPr>
              <a:t>G</a:t>
            </a:r>
            <a:r>
              <a:rPr lang="fr-FR" dirty="0"/>
              <a:t>énéral sur la </a:t>
            </a:r>
            <a:r>
              <a:rPr lang="fr-FR" b="1" dirty="0">
                <a:solidFill>
                  <a:srgbClr val="6B93E3"/>
                </a:solidFill>
              </a:rPr>
              <a:t>P</a:t>
            </a:r>
            <a:r>
              <a:rPr lang="fr-FR" dirty="0"/>
              <a:t>rotection des </a:t>
            </a:r>
            <a:r>
              <a:rPr lang="fr-FR" b="1" dirty="0">
                <a:solidFill>
                  <a:srgbClr val="6B93E3"/>
                </a:solidFill>
              </a:rPr>
              <a:t>D</a:t>
            </a:r>
            <a:r>
              <a:rPr lang="fr-FR" dirty="0"/>
              <a:t>onnées (RGPD), vise à encadrer le traitement des données personnelles pour protéger les droits en </a:t>
            </a:r>
          </a:p>
          <a:p>
            <a:pPr algn="ctr"/>
            <a:r>
              <a:rPr lang="fr-FR" dirty="0"/>
              <a:t>la matière envers les citoyens européen. Dans cette étude, nous ne traitons aucune donnée personnelle.</a:t>
            </a:r>
          </a:p>
        </p:txBody>
      </p:sp>
    </p:spTree>
    <p:extLst>
      <p:ext uri="{BB962C8B-B14F-4D97-AF65-F5344CB8AC3E}">
        <p14:creationId xmlns:p14="http://schemas.microsoft.com/office/powerpoint/2010/main" val="202802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8A0C-C09A-B368-CC0D-4C2EAA202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EB1A11-C377-D5F2-8424-7950D50E7B62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F97053A5-7F3D-B0C2-4848-66C593EC10C4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1367C9A-4BCA-1A18-FB0E-21DE7DB4BAC9}"/>
              </a:ext>
            </a:extLst>
          </p:cNvPr>
          <p:cNvSpPr txBox="1"/>
          <p:nvPr/>
        </p:nvSpPr>
        <p:spPr>
          <a:xfrm>
            <a:off x="2494025" y="235511"/>
            <a:ext cx="819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1) Proportion de personnes en état de sous-nutrition en 2017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46FE9E0-53AB-56BD-1B05-7D913DB2C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4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ADCC0D-BF5D-3FD5-D7F9-D2F7ACF52683}"/>
              </a:ext>
            </a:extLst>
          </p:cNvPr>
          <p:cNvSpPr txBox="1"/>
          <p:nvPr/>
        </p:nvSpPr>
        <p:spPr>
          <a:xfrm>
            <a:off x="2000250" y="1976292"/>
            <a:ext cx="8214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Sur l’année 2017, la population mondiale était de 7,5 milliards de personnes, dont </a:t>
            </a:r>
          </a:p>
          <a:p>
            <a:r>
              <a:rPr lang="fr-FR" dirty="0"/>
              <a:t>535 millions en sous-nutrition, soit une proportion de :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BA166C6-5DBC-1A39-21B9-C7535C65229D}"/>
              </a:ext>
            </a:extLst>
          </p:cNvPr>
          <p:cNvSpPr txBox="1"/>
          <p:nvPr/>
        </p:nvSpPr>
        <p:spPr>
          <a:xfrm>
            <a:off x="4312920" y="3198562"/>
            <a:ext cx="3566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>
                <a:solidFill>
                  <a:srgbClr val="6B93E3"/>
                </a:solidFill>
              </a:rPr>
              <a:t>  7,1% </a:t>
            </a:r>
          </a:p>
          <a:p>
            <a:pPr algn="ctr"/>
            <a:r>
              <a:rPr lang="fr-FR" dirty="0"/>
              <a:t>de la population mondiale qui est en état de sous-nutrition </a:t>
            </a:r>
          </a:p>
        </p:txBody>
      </p:sp>
    </p:spTree>
    <p:extLst>
      <p:ext uri="{BB962C8B-B14F-4D97-AF65-F5344CB8AC3E}">
        <p14:creationId xmlns:p14="http://schemas.microsoft.com/office/powerpoint/2010/main" val="403038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35388-1EBD-3C80-0990-03FDCB071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E328EC-86FA-CC66-ECC5-1F26498221A0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47055EF8-B57A-377D-9F39-C2EFF9676FD2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F4CD35A-D07B-8854-5F7E-ADD11C017C69}"/>
              </a:ext>
            </a:extLst>
          </p:cNvPr>
          <p:cNvSpPr txBox="1"/>
          <p:nvPr/>
        </p:nvSpPr>
        <p:spPr>
          <a:xfrm>
            <a:off x="2494025" y="136525"/>
            <a:ext cx="8393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2) Nombre théorique de personnes qui pourraient être nourries en 2017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B059EEB-DF6F-3D38-75A7-2C19F3FE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5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BA9DAB3-CD7F-81E0-E377-B8A2FC0CD809}"/>
              </a:ext>
            </a:extLst>
          </p:cNvPr>
          <p:cNvSpPr txBox="1"/>
          <p:nvPr/>
        </p:nvSpPr>
        <p:spPr>
          <a:xfrm>
            <a:off x="1874520" y="1999221"/>
            <a:ext cx="9012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Selon Santé Publique France, en moyenne, l’être humain doit consommer </a:t>
            </a:r>
            <a:r>
              <a:rPr lang="fr-FR" b="1" dirty="0">
                <a:solidFill>
                  <a:srgbClr val="6B93E3"/>
                </a:solidFill>
              </a:rPr>
              <a:t>1964 Kcal par jour. </a:t>
            </a:r>
            <a:r>
              <a:rPr lang="fr-FR" dirty="0"/>
              <a:t>Avec la disponibilité alimentaire mondiale, le nombre théorique de personnes pouvant être nourries en 2017 est de :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B19629F-D01C-F23F-2792-2DB304654826}"/>
              </a:ext>
            </a:extLst>
          </p:cNvPr>
          <p:cNvSpPr txBox="1"/>
          <p:nvPr/>
        </p:nvSpPr>
        <p:spPr>
          <a:xfrm>
            <a:off x="4180093" y="3716120"/>
            <a:ext cx="4401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6B93E3"/>
                </a:solidFill>
              </a:rPr>
              <a:t>10,6 Milliards</a:t>
            </a:r>
          </a:p>
        </p:txBody>
      </p:sp>
    </p:spTree>
    <p:extLst>
      <p:ext uri="{BB962C8B-B14F-4D97-AF65-F5344CB8AC3E}">
        <p14:creationId xmlns:p14="http://schemas.microsoft.com/office/powerpoint/2010/main" val="337325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68708-8833-D35E-6D11-DF34414E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BEA40F-EBEB-2BE8-2B0A-08ACC74EFD51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6E77C3D9-4204-5A5B-8D64-D8B116778497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9205D33-0B5D-BFD6-F290-2E92DA945C63}"/>
              </a:ext>
            </a:extLst>
          </p:cNvPr>
          <p:cNvSpPr txBox="1"/>
          <p:nvPr/>
        </p:nvSpPr>
        <p:spPr>
          <a:xfrm>
            <a:off x="2236089" y="75704"/>
            <a:ext cx="8689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3) Nombre théorique de personnes qui pourraient être nourries uniquement avec les végétaux en 2017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02F2B0F-7EB2-CCF7-9BB3-8313FDD3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6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932ED03-3DBF-D20D-96B2-E65D5830958E}"/>
              </a:ext>
            </a:extLst>
          </p:cNvPr>
          <p:cNvSpPr txBox="1"/>
          <p:nvPr/>
        </p:nvSpPr>
        <p:spPr>
          <a:xfrm>
            <a:off x="1874520" y="1999221"/>
            <a:ext cx="9012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En se concentrant sur la disponibilité des végétaux pour cette même période ces denrées pourraient nourrir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E81664A-208A-CCF2-99CF-08DE219B0A62}"/>
              </a:ext>
            </a:extLst>
          </p:cNvPr>
          <p:cNvSpPr txBox="1"/>
          <p:nvPr/>
        </p:nvSpPr>
        <p:spPr>
          <a:xfrm>
            <a:off x="4084962" y="3310702"/>
            <a:ext cx="40220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rgbClr val="6B93E3"/>
                </a:solidFill>
              </a:rPr>
              <a:t>8,8 Milliards</a:t>
            </a:r>
          </a:p>
          <a:p>
            <a:pPr algn="ctr"/>
            <a:r>
              <a:rPr lang="fr-FR" dirty="0"/>
              <a:t>de</a:t>
            </a:r>
            <a:r>
              <a:rPr lang="fr-FR" sz="1400" b="1" dirty="0">
                <a:solidFill>
                  <a:srgbClr val="6B93E3"/>
                </a:solidFill>
              </a:rPr>
              <a:t> </a:t>
            </a:r>
            <a:r>
              <a:rPr lang="fr-FR" dirty="0"/>
              <a:t>personnes</a:t>
            </a:r>
          </a:p>
        </p:txBody>
      </p:sp>
    </p:spTree>
    <p:extLst>
      <p:ext uri="{BB962C8B-B14F-4D97-AF65-F5344CB8AC3E}">
        <p14:creationId xmlns:p14="http://schemas.microsoft.com/office/powerpoint/2010/main" val="164851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5533-352E-C083-4AAF-93D589023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F971E0-6E5E-3B4C-5D51-5EC807121F8E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D53985DD-91D2-C091-4249-5BC3CA8A4588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6CF3703-72E6-3DDF-C198-64089B3F31D2}"/>
              </a:ext>
            </a:extLst>
          </p:cNvPr>
          <p:cNvSpPr txBox="1"/>
          <p:nvPr/>
        </p:nvSpPr>
        <p:spPr>
          <a:xfrm>
            <a:off x="2494025" y="221144"/>
            <a:ext cx="819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4) Répartition de la disponibilité intérieure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DC4EAE7-BFD5-AD7F-4516-FF83B5E4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437FB11-1687-7F31-958A-B115587C2DDD}"/>
              </a:ext>
            </a:extLst>
          </p:cNvPr>
          <p:cNvSpPr txBox="1"/>
          <p:nvPr/>
        </p:nvSpPr>
        <p:spPr>
          <a:xfrm>
            <a:off x="666161" y="1673542"/>
            <a:ext cx="108596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Nous pouvons calculer la disponibilité intérieure avec cette équation :</a:t>
            </a:r>
          </a:p>
          <a:p>
            <a:pPr algn="ctr"/>
            <a:endParaRPr lang="fr-FR" dirty="0"/>
          </a:p>
          <a:p>
            <a:pPr algn="ctr"/>
            <a:r>
              <a:rPr lang="fr-FR" b="1" dirty="0">
                <a:solidFill>
                  <a:srgbClr val="6B93E3"/>
                </a:solidFill>
              </a:rPr>
              <a:t>Disponibilité intérieur = Semences + Pertes + Nourritures + Aliments pour animaux + Traitements + Autres utilisation</a:t>
            </a:r>
          </a:p>
          <a:p>
            <a:pPr algn="ctr"/>
            <a:endParaRPr lang="fr-FR" b="1" dirty="0">
              <a:solidFill>
                <a:srgbClr val="6B93E3"/>
              </a:solidFill>
            </a:endParaRPr>
          </a:p>
          <a:p>
            <a:pPr algn="ctr"/>
            <a:r>
              <a:rPr lang="fr-FR" dirty="0"/>
              <a:t>Ce qui donne la répartition de sont utilisation ci dessous 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B63B38B-8931-2907-A33A-EC4DDC9F5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944" y="3427868"/>
            <a:ext cx="4650656" cy="309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83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705B8-3F7B-5AA3-FFF0-797CBDF0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65F67B-4539-0530-A8CE-8D7DEFED28B0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48FCB7D8-5C6F-24BA-120D-08A9B56377D3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EA8A701-DA48-0E4A-793C-934F69CD1B14}"/>
              </a:ext>
            </a:extLst>
          </p:cNvPr>
          <p:cNvSpPr txBox="1"/>
          <p:nvPr/>
        </p:nvSpPr>
        <p:spPr>
          <a:xfrm>
            <a:off x="1880424" y="0"/>
            <a:ext cx="9793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5) Part de l’utilisation des principales céréales entre l’alimentation humaine et animale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ABB5C1B-EF1F-37E6-3876-FDE9F61E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6E22CE3-C4D8-95C3-2B01-FFF753309DEC}"/>
              </a:ext>
            </a:extLst>
          </p:cNvPr>
          <p:cNvSpPr txBox="1"/>
          <p:nvPr/>
        </p:nvSpPr>
        <p:spPr>
          <a:xfrm>
            <a:off x="1589722" y="1971789"/>
            <a:ext cx="9012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Si l’on travail sur la part d’utilisation des céréales pour chaque utilisation, nous obtenons : 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69A82565-2D80-7AB4-8ED8-BE3740F97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523" y="2879424"/>
            <a:ext cx="4878951" cy="327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72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D3E1-0D98-30FB-0F5F-572133979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B64544-FD9B-E735-F225-5B35196BAFB9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4F57C985-8D47-625A-00A2-9239D313526A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747F55A-1D51-80CB-8081-10C89D651391}"/>
              </a:ext>
            </a:extLst>
          </p:cNvPr>
          <p:cNvSpPr txBox="1"/>
          <p:nvPr/>
        </p:nvSpPr>
        <p:spPr>
          <a:xfrm>
            <a:off x="2333625" y="101691"/>
            <a:ext cx="819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6) Liste des 10 pays où la proportion de personnes en état de sous-nutrition est la plus forte en 2017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4D527B1-4542-6299-AC2B-894D4738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9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F853345-7F65-2CD6-DAAF-062C53B4B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02" y="1673542"/>
            <a:ext cx="9926795" cy="466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01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C905F-D39C-D035-83B9-569DF52A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484BB82-0926-6AB5-6ED2-81C7293FE41C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3C18F118-D9DF-742A-F687-A21D298C72DF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43BD28-D262-2016-DB73-AEE7E206F77E}"/>
              </a:ext>
            </a:extLst>
          </p:cNvPr>
          <p:cNvSpPr txBox="1"/>
          <p:nvPr/>
        </p:nvSpPr>
        <p:spPr>
          <a:xfrm>
            <a:off x="2048486" y="50845"/>
            <a:ext cx="9219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7) Liste des 10 pays qui ont le plus bénéficié de l’aide alimentaire entre 2013 et 2016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483DAA5-90E9-B6B8-3550-5490DC28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10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5AC103E-7AB2-778F-FB2F-ECC99ECF8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59" y="1488511"/>
            <a:ext cx="10667682" cy="505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1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4F57-AF0A-242A-9E05-78AE8C80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24C548F-1129-FDDB-E969-FAC65575F724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6B63D2EF-3415-446F-46AD-EB9CF039A0D4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773D543-21A1-999A-516E-5DA6253EE855}"/>
              </a:ext>
            </a:extLst>
          </p:cNvPr>
          <p:cNvSpPr txBox="1"/>
          <p:nvPr/>
        </p:nvSpPr>
        <p:spPr>
          <a:xfrm>
            <a:off x="2219706" y="50845"/>
            <a:ext cx="819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8) Évolution de l’aide alimentaire pour les 5 pays qui en ont le plus bénéficié entre 2013 et 2016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0BB5473-E572-3406-2D64-15029988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11</a:t>
            </a:fld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1A43D93-6B72-CFBB-8ED7-68F2CD032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896798"/>
              </p:ext>
            </p:extLst>
          </p:nvPr>
        </p:nvGraphicFramePr>
        <p:xfrm>
          <a:off x="1555560" y="2024080"/>
          <a:ext cx="9080880" cy="3828080"/>
        </p:xfrm>
        <a:graphic>
          <a:graphicData uri="http://schemas.openxmlformats.org/drawingml/2006/table">
            <a:tbl>
              <a:tblPr firstRow="1" bandRow="1" bandCol="1">
                <a:tableStyleId>{69012ECD-51FC-41F1-AA8D-1B2483CD663E}</a:tableStyleId>
              </a:tblPr>
              <a:tblGrid>
                <a:gridCol w="1816176">
                  <a:extLst>
                    <a:ext uri="{9D8B030D-6E8A-4147-A177-3AD203B41FA5}">
                      <a16:colId xmlns:a16="http://schemas.microsoft.com/office/drawing/2014/main" val="2609981954"/>
                    </a:ext>
                  </a:extLst>
                </a:gridCol>
                <a:gridCol w="1816176">
                  <a:extLst>
                    <a:ext uri="{9D8B030D-6E8A-4147-A177-3AD203B41FA5}">
                      <a16:colId xmlns:a16="http://schemas.microsoft.com/office/drawing/2014/main" val="1823190117"/>
                    </a:ext>
                  </a:extLst>
                </a:gridCol>
                <a:gridCol w="1816176">
                  <a:extLst>
                    <a:ext uri="{9D8B030D-6E8A-4147-A177-3AD203B41FA5}">
                      <a16:colId xmlns:a16="http://schemas.microsoft.com/office/drawing/2014/main" val="1841793240"/>
                    </a:ext>
                  </a:extLst>
                </a:gridCol>
                <a:gridCol w="1816176">
                  <a:extLst>
                    <a:ext uri="{9D8B030D-6E8A-4147-A177-3AD203B41FA5}">
                      <a16:colId xmlns:a16="http://schemas.microsoft.com/office/drawing/2014/main" val="745407878"/>
                    </a:ext>
                  </a:extLst>
                </a:gridCol>
                <a:gridCol w="1816176">
                  <a:extLst>
                    <a:ext uri="{9D8B030D-6E8A-4147-A177-3AD203B41FA5}">
                      <a16:colId xmlns:a16="http://schemas.microsoft.com/office/drawing/2014/main" val="1770796902"/>
                    </a:ext>
                  </a:extLst>
                </a:gridCol>
              </a:tblGrid>
              <a:tr h="62768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Pays\Année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2013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2014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2015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2016</a:t>
                      </a:r>
                    </a:p>
                  </a:txBody>
                  <a:tcPr anchor="ctr"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4151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fr-FR" dirty="0"/>
                        <a:t>République arabe syrienne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563 566 000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651 870 000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524 949 000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118 558 000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12961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Soudan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330 230 000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321 904 000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17 650 000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1203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Soudan du Sud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196 330 000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450 610 000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48 308 000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0740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Yémen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264 764 000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103 840 000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372 306 000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465 574 000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53834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Éthiopie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591 404 000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586 624 000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b="0" kern="1200" dirty="0">
                          <a:solidFill>
                            <a:schemeClr val="dk1"/>
                          </a:solidFill>
                          <a:effectLst/>
                        </a:rPr>
                        <a:t>203 266 000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5553666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C229B48B-0664-53A5-330D-3E6AD827BD9C}"/>
              </a:ext>
            </a:extLst>
          </p:cNvPr>
          <p:cNvSpPr txBox="1"/>
          <p:nvPr/>
        </p:nvSpPr>
        <p:spPr>
          <a:xfrm>
            <a:off x="10168128" y="5830230"/>
            <a:ext cx="141928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En kg*</a:t>
            </a:r>
          </a:p>
        </p:txBody>
      </p:sp>
    </p:spTree>
    <p:extLst>
      <p:ext uri="{BB962C8B-B14F-4D97-AF65-F5344CB8AC3E}">
        <p14:creationId xmlns:p14="http://schemas.microsoft.com/office/powerpoint/2010/main" val="3833376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B035-03E5-F8BF-E86A-492B027FB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6BC7C4-6418-5A87-41AE-F4232C461B2C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CCC2634E-CA6E-A994-FC15-D72D3F04FFB1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CD1429F-CF25-C7C2-2C90-A2A2B5A50795}"/>
              </a:ext>
            </a:extLst>
          </p:cNvPr>
          <p:cNvSpPr txBox="1"/>
          <p:nvPr/>
        </p:nvSpPr>
        <p:spPr>
          <a:xfrm>
            <a:off x="1799082" y="50845"/>
            <a:ext cx="10106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9) Liste des 10 pays qui ont la plus forte disponibilité alimentaire par habitant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932300E-E579-3D7D-79D5-9321966D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81AD068-87C9-A606-C031-B161D53C7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296" y="1350685"/>
            <a:ext cx="9147407" cy="500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41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9ED64-4E0A-F6C6-8948-2A9E7728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ADC025-7145-CFF0-4540-40E2E4893467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F31BB752-CB11-BDC3-0E49-F6602EA2A7C0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6D0EB3-41CE-111A-95A9-6B6667406EF9}"/>
              </a:ext>
            </a:extLst>
          </p:cNvPr>
          <p:cNvSpPr txBox="1"/>
          <p:nvPr/>
        </p:nvSpPr>
        <p:spPr>
          <a:xfrm>
            <a:off x="2228850" y="0"/>
            <a:ext cx="8917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10) Liste des 10 pays qui ont la plus faible disponibilité alimentaire par habitant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F4D31C0-3AC1-6FEC-972B-1FE73A4B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13</a:t>
            </a:fld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32A7DB2-2BEF-78E6-DD66-2FEA345C2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24" y="1604996"/>
            <a:ext cx="10149151" cy="475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50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C4DD-98B8-E92E-EADE-5D5D51FF8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06B9FCF-CEDA-9479-12C4-725AB4A8151F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B12EE87E-02B8-A60B-4877-BB7993EC5088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AB595FA-30A8-DF8C-5709-BD77DC6D8477}"/>
              </a:ext>
            </a:extLst>
          </p:cNvPr>
          <p:cNvSpPr txBox="1"/>
          <p:nvPr/>
        </p:nvSpPr>
        <p:spPr>
          <a:xfrm>
            <a:off x="2494025" y="140547"/>
            <a:ext cx="819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11) Étude sur le manioc en Thaïlande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C4E1165-BC05-AF7D-8F51-5E2B4147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14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5DE47EF-B39F-1E83-F4FF-3F26FBC7A3E1}"/>
              </a:ext>
            </a:extLst>
          </p:cNvPr>
          <p:cNvSpPr txBox="1"/>
          <p:nvPr/>
        </p:nvSpPr>
        <p:spPr>
          <a:xfrm>
            <a:off x="1266824" y="2978886"/>
            <a:ext cx="40092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D’après nos données, la proportion de sous nutrition en Thaïlande pour 2017 est de : </a:t>
            </a:r>
          </a:p>
          <a:p>
            <a:pPr algn="ctr"/>
            <a:endParaRPr lang="fr-FR" dirty="0"/>
          </a:p>
          <a:p>
            <a:pPr algn="ctr"/>
            <a:r>
              <a:rPr lang="fr-FR" sz="5400" b="1" dirty="0">
                <a:solidFill>
                  <a:srgbClr val="6B93E3"/>
                </a:solidFill>
              </a:rPr>
              <a:t>9%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19CCD3-9007-5B81-70A0-71E1D46BB38B}"/>
              </a:ext>
            </a:extLst>
          </p:cNvPr>
          <p:cNvSpPr txBox="1"/>
          <p:nvPr/>
        </p:nvSpPr>
        <p:spPr>
          <a:xfrm>
            <a:off x="6605968" y="1764791"/>
            <a:ext cx="400926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Mais dans le même temps, la proportion de manioc exportée sur cette même période est de : </a:t>
            </a:r>
          </a:p>
          <a:p>
            <a:pPr algn="ctr"/>
            <a:endParaRPr lang="fr-FR" dirty="0"/>
          </a:p>
          <a:p>
            <a:pPr algn="ctr"/>
            <a:r>
              <a:rPr lang="fr-FR" sz="5400" b="1" dirty="0">
                <a:solidFill>
                  <a:srgbClr val="6B93E3"/>
                </a:solidFill>
              </a:rPr>
              <a:t>83%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F760F9-946D-4853-2E97-DBF322159F8C}"/>
              </a:ext>
            </a:extLst>
          </p:cNvPr>
          <p:cNvSpPr txBox="1"/>
          <p:nvPr/>
        </p:nvSpPr>
        <p:spPr>
          <a:xfrm>
            <a:off x="6676261" y="3994549"/>
            <a:ext cx="4009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La disponibilité alimentaire en Kcal par personnes et par jour est même de: </a:t>
            </a:r>
          </a:p>
          <a:p>
            <a:pPr algn="ctr"/>
            <a:endParaRPr lang="fr-FR" dirty="0"/>
          </a:p>
          <a:p>
            <a:pPr algn="ctr"/>
            <a:r>
              <a:rPr lang="fr-FR" sz="5400" b="1" dirty="0">
                <a:solidFill>
                  <a:srgbClr val="6B93E3"/>
                </a:solidFill>
              </a:rPr>
              <a:t>2785</a:t>
            </a:r>
          </a:p>
        </p:txBody>
      </p:sp>
    </p:spTree>
    <p:extLst>
      <p:ext uri="{BB962C8B-B14F-4D97-AF65-F5344CB8AC3E}">
        <p14:creationId xmlns:p14="http://schemas.microsoft.com/office/powerpoint/2010/main" val="1229402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203D-57FF-1CB6-8DCC-37CFFC2BB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DBD809-216A-39CB-C203-A3D4D008318B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3109CD92-6C50-E676-2DAA-46ADFC803235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90124EB-130C-6C41-C8AE-B2FDC2389050}"/>
              </a:ext>
            </a:extLst>
          </p:cNvPr>
          <p:cNvSpPr txBox="1"/>
          <p:nvPr/>
        </p:nvSpPr>
        <p:spPr>
          <a:xfrm>
            <a:off x="2329434" y="235511"/>
            <a:ext cx="819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12) Analyses complémentaires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B3DDF0C-BDC6-782C-99CF-8DC91BF0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9C47771-86F9-19D8-25F5-FFF3916C8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29" y="2790407"/>
            <a:ext cx="5400000" cy="317676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2320749-7D8B-034B-166A-64B0C914B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0407"/>
            <a:ext cx="5400000" cy="3176766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3C08AFE-4BEC-262D-CA59-6FA5BF63F4AD}"/>
              </a:ext>
            </a:extLst>
          </p:cNvPr>
          <p:cNvSpPr txBox="1"/>
          <p:nvPr/>
        </p:nvSpPr>
        <p:spPr>
          <a:xfrm>
            <a:off x="2396109" y="1477900"/>
            <a:ext cx="73997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Alors que la population mondiale n’a de cesse d’augmenter, la sous-nutrition progresse plus rapidement pendant que l'aide alimentaire diminue</a:t>
            </a:r>
          </a:p>
        </p:txBody>
      </p:sp>
    </p:spTree>
    <p:extLst>
      <p:ext uri="{BB962C8B-B14F-4D97-AF65-F5344CB8AC3E}">
        <p14:creationId xmlns:p14="http://schemas.microsoft.com/office/powerpoint/2010/main" val="4040391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B9448-28E8-9A08-3C9F-0189BAFD4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1075F7E-BD68-0E1E-2A1F-5631C3A51902}"/>
              </a:ext>
            </a:extLst>
          </p:cNvPr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Organigramme : Fusion 9">
            <a:extLst>
              <a:ext uri="{FF2B5EF4-FFF2-40B4-BE49-F238E27FC236}">
                <a16:creationId xmlns:a16="http://schemas.microsoft.com/office/drawing/2014/main" id="{FEE9432C-BC7A-1639-5057-2D997404200D}"/>
              </a:ext>
            </a:extLst>
          </p:cNvPr>
          <p:cNvSpPr/>
          <p:nvPr/>
        </p:nvSpPr>
        <p:spPr>
          <a:xfrm>
            <a:off x="1266824" y="740854"/>
            <a:ext cx="1227201" cy="593217"/>
          </a:xfrm>
          <a:prstGeom prst="flowChartMerge">
            <a:avLst/>
          </a:prstGeom>
          <a:solidFill>
            <a:srgbClr val="0E284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545B63-FC36-9336-5E12-9C9A69E3F8E5}"/>
              </a:ext>
            </a:extLst>
          </p:cNvPr>
          <p:cNvSpPr txBox="1"/>
          <p:nvPr/>
        </p:nvSpPr>
        <p:spPr>
          <a:xfrm>
            <a:off x="2000250" y="235511"/>
            <a:ext cx="819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C25E32-AD80-BFB8-F315-BF50C513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7843B-FBBD-41F1-AA12-7260D465AC89}" type="slidenum">
              <a:rPr lang="fr-FR" smtClean="0"/>
              <a:t>16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CA72DCC-A92C-A7FA-D063-7FD2E5905DA4}"/>
              </a:ext>
            </a:extLst>
          </p:cNvPr>
          <p:cNvSpPr txBox="1"/>
          <p:nvPr/>
        </p:nvSpPr>
        <p:spPr>
          <a:xfrm>
            <a:off x="1801368" y="2136338"/>
            <a:ext cx="82989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Malgré une disponibilité théorique qui couvre l’ensemble des besoins de la population, nous avons constaté que </a:t>
            </a:r>
            <a:r>
              <a:rPr lang="fr-FR" sz="2000" b="1" dirty="0">
                <a:solidFill>
                  <a:srgbClr val="6B93E3"/>
                </a:solidFill>
              </a:rPr>
              <a:t>7%</a:t>
            </a:r>
            <a:r>
              <a:rPr lang="fr-FR" sz="2000" dirty="0"/>
              <a:t> de celle-ci souffre de la faim en 2017.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Notre étude sur l’utilisation des céréales révèle qu’une forte part de ces denrées servent à l’alimentation animale, alors qu’elles seraient suffisantes pour subvenir aux besoins des populations.</a:t>
            </a:r>
          </a:p>
          <a:p>
            <a:pPr algn="ctr"/>
            <a:endParaRPr lang="fr-FR" sz="2000" dirty="0"/>
          </a:p>
          <a:p>
            <a:pPr algn="ctr"/>
            <a:r>
              <a:rPr lang="fr-FR" sz="2000" dirty="0"/>
              <a:t>L’exemple de la Thaïlande montre que certain pays préfère exporter leurs productions au détriment de leur sécurité alimentaire.</a:t>
            </a:r>
          </a:p>
        </p:txBody>
      </p:sp>
    </p:spTree>
    <p:extLst>
      <p:ext uri="{BB962C8B-B14F-4D97-AF65-F5344CB8AC3E}">
        <p14:creationId xmlns:p14="http://schemas.microsoft.com/office/powerpoint/2010/main" val="9039349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1385</Words>
  <Application>Microsoft Office PowerPoint</Application>
  <PresentationFormat>Grand écran</PresentationFormat>
  <Paragraphs>188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Claudie Humbert</dc:creator>
  <cp:lastModifiedBy>Claudie Humbert</cp:lastModifiedBy>
  <cp:revision>71</cp:revision>
  <dcterms:created xsi:type="dcterms:W3CDTF">2025-10-02T00:59:25Z</dcterms:created>
  <dcterms:modified xsi:type="dcterms:W3CDTF">2025-10-17T04:18:39Z</dcterms:modified>
</cp:coreProperties>
</file>