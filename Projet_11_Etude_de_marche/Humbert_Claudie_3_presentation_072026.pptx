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70" r:id="rId10"/>
    <p:sldId id="271" r:id="rId11"/>
    <p:sldId id="272" r:id="rId12"/>
    <p:sldId id="265" r:id="rId13"/>
    <p:sldId id="273" r:id="rId14"/>
    <p:sldId id="266" r:id="rId15"/>
    <p:sldId id="274" r:id="rId16"/>
    <p:sldId id="267" r:id="rId17"/>
    <p:sldId id="268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1C849-D24F-4980-923A-BA4B6A754CF5}" v="8" dt="2026-07-15T23:55:01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402" autoAdjust="0"/>
  </p:normalViewPr>
  <p:slideViewPr>
    <p:cSldViewPr snapToGrid="0">
      <p:cViewPr varScale="1">
        <p:scale>
          <a:sx n="51" d="100"/>
          <a:sy n="51" d="100"/>
        </p:scale>
        <p:origin x="18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e Humbert" userId="baad0d9c075282f2" providerId="LiveId" clId="{6C72CCF1-70F2-4B68-AAA5-6A9C29734CFF}"/>
    <pc:docChg chg="custSel modSld">
      <pc:chgData name="Claudie Humbert" userId="baad0d9c075282f2" providerId="LiveId" clId="{6C72CCF1-70F2-4B68-AAA5-6A9C29734CFF}" dt="2026-07-16T10:56:36.605" v="1404" actId="20577"/>
      <pc:docMkLst>
        <pc:docMk/>
      </pc:docMkLst>
      <pc:sldChg chg="modNotesTx">
        <pc:chgData name="Claudie Humbert" userId="baad0d9c075282f2" providerId="LiveId" clId="{6C72CCF1-70F2-4B68-AAA5-6A9C29734CFF}" dt="2026-07-16T10:15:15.944" v="179" actId="20577"/>
        <pc:sldMkLst>
          <pc:docMk/>
          <pc:sldMk cId="3463946186" sldId="261"/>
        </pc:sldMkLst>
      </pc:sldChg>
      <pc:sldChg chg="modSp mod modNotesTx">
        <pc:chgData name="Claudie Humbert" userId="baad0d9c075282f2" providerId="LiveId" clId="{6C72CCF1-70F2-4B68-AAA5-6A9C29734CFF}" dt="2026-07-16T10:16:58.669" v="485" actId="20577"/>
        <pc:sldMkLst>
          <pc:docMk/>
          <pc:sldMk cId="3521469415" sldId="263"/>
        </pc:sldMkLst>
        <pc:spChg chg="mod">
          <ac:chgData name="Claudie Humbert" userId="baad0d9c075282f2" providerId="LiveId" clId="{6C72CCF1-70F2-4B68-AAA5-6A9C29734CFF}" dt="2026-07-16T10:08:11.230" v="16" actId="14100"/>
          <ac:spMkLst>
            <pc:docMk/>
            <pc:sldMk cId="3521469415" sldId="263"/>
            <ac:spMk id="4" creationId="{267C0C22-6809-8C60-AC5C-B986CDC669F2}"/>
          </ac:spMkLst>
        </pc:spChg>
        <pc:spChg chg="mod">
          <ac:chgData name="Claudie Humbert" userId="baad0d9c075282f2" providerId="LiveId" clId="{6C72CCF1-70F2-4B68-AAA5-6A9C29734CFF}" dt="2026-07-16T10:08:21.105" v="17" actId="1036"/>
          <ac:spMkLst>
            <pc:docMk/>
            <pc:sldMk cId="3521469415" sldId="263"/>
            <ac:spMk id="19" creationId="{495B38D7-00BB-C7DE-952C-222A4901A789}"/>
          </ac:spMkLst>
        </pc:spChg>
      </pc:sldChg>
      <pc:sldChg chg="modNotesTx">
        <pc:chgData name="Claudie Humbert" userId="baad0d9c075282f2" providerId="LiveId" clId="{6C72CCF1-70F2-4B68-AAA5-6A9C29734CFF}" dt="2026-07-16T10:56:36.605" v="1404" actId="20577"/>
        <pc:sldMkLst>
          <pc:docMk/>
          <pc:sldMk cId="1249784790" sldId="265"/>
        </pc:sldMkLst>
      </pc:sldChg>
      <pc:sldChg chg="modNotesTx">
        <pc:chgData name="Claudie Humbert" userId="baad0d9c075282f2" providerId="LiveId" clId="{6C72CCF1-70F2-4B68-AAA5-6A9C29734CFF}" dt="2026-07-16T10:34:40.398" v="1062" actId="20577"/>
        <pc:sldMkLst>
          <pc:docMk/>
          <pc:sldMk cId="2874972023" sldId="266"/>
        </pc:sldMkLst>
      </pc:sldChg>
      <pc:sldChg chg="delSp modSp mod modNotesTx">
        <pc:chgData name="Claudie Humbert" userId="baad0d9c075282f2" providerId="LiveId" clId="{6C72CCF1-70F2-4B68-AAA5-6A9C29734CFF}" dt="2026-07-16T10:53:07.591" v="1114" actId="20577"/>
        <pc:sldMkLst>
          <pc:docMk/>
          <pc:sldMk cId="2883689131" sldId="269"/>
        </pc:sldMkLst>
        <pc:picChg chg="mod">
          <ac:chgData name="Claudie Humbert" userId="baad0d9c075282f2" providerId="LiveId" clId="{6C72CCF1-70F2-4B68-AAA5-6A9C29734CFF}" dt="2026-07-16T10:11:09.009" v="19" actId="1076"/>
          <ac:picMkLst>
            <pc:docMk/>
            <pc:sldMk cId="2883689131" sldId="269"/>
            <ac:picMk id="5" creationId="{629BD8F6-11F5-C8E3-FFB4-1A6898F5E5D3}"/>
          </ac:picMkLst>
        </pc:picChg>
        <pc:picChg chg="del">
          <ac:chgData name="Claudie Humbert" userId="baad0d9c075282f2" providerId="LiveId" clId="{6C72CCF1-70F2-4B68-AAA5-6A9C29734CFF}" dt="2026-07-16T10:11:05.087" v="18" actId="478"/>
          <ac:picMkLst>
            <pc:docMk/>
            <pc:sldMk cId="2883689131" sldId="269"/>
            <ac:picMk id="11" creationId="{72CB5A15-7C6A-47F1-1F4D-16C6448264D1}"/>
          </ac:picMkLst>
        </pc:picChg>
      </pc:sldChg>
      <pc:sldChg chg="modSp mod modNotesTx">
        <pc:chgData name="Claudie Humbert" userId="baad0d9c075282f2" providerId="LiveId" clId="{6C72CCF1-70F2-4B68-AAA5-6A9C29734CFF}" dt="2026-07-16T10:53:47.311" v="1117" actId="5793"/>
        <pc:sldMkLst>
          <pc:docMk/>
          <pc:sldMk cId="1895824408" sldId="270"/>
        </pc:sldMkLst>
        <pc:spChg chg="mod">
          <ac:chgData name="Claudie Humbert" userId="baad0d9c075282f2" providerId="LiveId" clId="{6C72CCF1-70F2-4B68-AAA5-6A9C29734CFF}" dt="2026-07-15T23:55:19.462" v="12" actId="20577"/>
          <ac:spMkLst>
            <pc:docMk/>
            <pc:sldMk cId="1895824408" sldId="270"/>
            <ac:spMk id="4" creationId="{447A91CA-FCE3-FF95-E8E0-F15BCC80EFE6}"/>
          </ac:spMkLst>
        </pc:spChg>
      </pc:sldChg>
      <pc:sldChg chg="modNotesTx">
        <pc:chgData name="Claudie Humbert" userId="baad0d9c075282f2" providerId="LiveId" clId="{6C72CCF1-70F2-4B68-AAA5-6A9C29734CFF}" dt="2026-07-16T10:54:23.213" v="1208" actId="5793"/>
        <pc:sldMkLst>
          <pc:docMk/>
          <pc:sldMk cId="378350799" sldId="271"/>
        </pc:sldMkLst>
      </pc:sldChg>
      <pc:sldChg chg="modSp mod">
        <pc:chgData name="Claudie Humbert" userId="baad0d9c075282f2" providerId="LiveId" clId="{6C72CCF1-70F2-4B68-AAA5-6A9C29734CFF}" dt="2026-07-15T21:46:07.020" v="1" actId="1076"/>
        <pc:sldMkLst>
          <pc:docMk/>
          <pc:sldMk cId="333313366" sldId="273"/>
        </pc:sldMkLst>
        <pc:picChg chg="mod">
          <ac:chgData name="Claudie Humbert" userId="baad0d9c075282f2" providerId="LiveId" clId="{6C72CCF1-70F2-4B68-AAA5-6A9C29734CFF}" dt="2026-07-15T21:46:07.020" v="1" actId="1076"/>
          <ac:picMkLst>
            <pc:docMk/>
            <pc:sldMk cId="333313366" sldId="273"/>
            <ac:picMk id="5" creationId="{4C1A686F-A225-8FBA-AC65-5518A8E0DFAB}"/>
          </ac:picMkLst>
        </pc:picChg>
      </pc:sldChg>
      <pc:sldChg chg="modNotesTx">
        <pc:chgData name="Claudie Humbert" userId="baad0d9c075282f2" providerId="LiveId" clId="{6C72CCF1-70F2-4B68-AAA5-6A9C29734CFF}" dt="2026-07-16T10:35:18.281" v="1110" actId="20577"/>
        <pc:sldMkLst>
          <pc:docMk/>
          <pc:sldMk cId="3796432149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48C0A-D87C-4F73-859F-3F3F3BB24161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D85E8-092A-4068-A176-5B0A5B0363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927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J’ai 165 pays pour une couverture de la une population d’un peu plus de 96%</a:t>
            </a:r>
          </a:p>
          <a:p>
            <a:endParaRPr lang="fr-FR" dirty="0"/>
          </a:p>
          <a:p>
            <a:r>
              <a:rPr lang="fr-FR" dirty="0"/>
              <a:t>Vérification des </a:t>
            </a:r>
            <a:r>
              <a:rPr lang="fr-FR" dirty="0" err="1"/>
              <a:t>Outliers</a:t>
            </a:r>
            <a:r>
              <a:rPr lang="fr-FR" dirty="0"/>
              <a:t> qui sont cohérant (Grand pays)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450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ACP (Analyse en composante principale) =&gt; Mesure un grand nombre de variables en quelques axe principaux (les composantes)</a:t>
            </a:r>
          </a:p>
          <a:p>
            <a:endParaRPr lang="fr-FR" dirty="0"/>
          </a:p>
          <a:p>
            <a:r>
              <a:rPr lang="fr-FR" dirty="0"/>
              <a:t>Pour choisir le nombre de composante, il faut définir un seuil qui comprend un certain pourcentage de l’informations contenues dans mes variables (j’ai choisi 80%)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16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PC1 : Axe du niveau de développement économique et institutionnel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PC2 : Pression démographique et structure alimentaire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PC3 : Risque de volatilité des prix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PC4 : Pression alimentaire structurelle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PC5 : Comportements atypiques</a:t>
            </a:r>
          </a:p>
          <a:p>
            <a:endParaRPr lang="fr-FR" dirty="0"/>
          </a:p>
          <a:p>
            <a:r>
              <a:rPr lang="fr-FR" dirty="0"/>
              <a:t>On observe une très forte corrélation positive entre le </a:t>
            </a:r>
            <a:r>
              <a:rPr lang="fr-FR" b="1" dirty="0"/>
              <a:t>PIB par habitant</a:t>
            </a:r>
            <a:r>
              <a:rPr lang="fr-FR" dirty="0"/>
              <a:t>, la </a:t>
            </a:r>
            <a:r>
              <a:rPr lang="fr-FR" b="1" dirty="0"/>
              <a:t>Stabilité politique</a:t>
            </a:r>
            <a:r>
              <a:rPr lang="fr-FR" dirty="0"/>
              <a:t> et l'</a:t>
            </a:r>
            <a:r>
              <a:rPr lang="fr-FR" b="1" dirty="0"/>
              <a:t>Indice logistique</a:t>
            </a:r>
            <a:r>
              <a:rPr lang="fr-FR" dirty="0"/>
              <a:t>. Les pays situés à droite de l'axe représentent des marchés à fort pouvoir d'achat où la fluidité des opérations et la sécurité des investissements sont maximales. Ce sont également des zones à forte intensité d'importations en volume (</a:t>
            </a:r>
            <a:r>
              <a:rPr lang="fr-FR" b="1" dirty="0"/>
              <a:t>Importations - Quantité</a:t>
            </a:r>
            <a:r>
              <a:rPr lang="fr-FR" dirty="0"/>
              <a:t>).</a:t>
            </a:r>
          </a:p>
          <a:p>
            <a:r>
              <a:rPr lang="fr-FR" b="1" dirty="0"/>
              <a:t>Le pôle de la transition et de la vigilance (Cible de volume à risque — PC1 négatif) :</a:t>
            </a:r>
            <a:r>
              <a:rPr lang="fr-FR" dirty="0"/>
              <a:t> À l'opposé, la </a:t>
            </a:r>
            <a:r>
              <a:rPr lang="fr-FR" b="1" dirty="0"/>
              <a:t>Croissance démographique</a:t>
            </a:r>
            <a:r>
              <a:rPr lang="fr-FR" dirty="0"/>
              <a:t> et les indicateurs d'</a:t>
            </a:r>
            <a:r>
              <a:rPr lang="fr-FR" b="1" dirty="0"/>
              <a:t>Inflation</a:t>
            </a:r>
            <a:r>
              <a:rPr lang="fr-FR" dirty="0"/>
              <a:t> (niveau et croissance) sont fortement corrélés négativement avec le PIB et la stabilité. Les pays situés à gauche présentent un fort dynamisme démographique, mais s'accompagnent de risques d'instabilité monétaire et de barrières opérationnelles.</a:t>
            </a:r>
          </a:p>
          <a:p>
            <a:r>
              <a:rPr lang="fr-FR" b="1" dirty="0"/>
              <a:t>Axe 2 (Vertical - PC2) : Pression démographique et structure alimentaire</a:t>
            </a:r>
          </a:p>
          <a:p>
            <a:r>
              <a:rPr lang="fr-FR" dirty="0"/>
              <a:t>La </a:t>
            </a:r>
            <a:r>
              <a:rPr lang="fr-FR" b="1" dirty="0"/>
              <a:t>Population</a:t>
            </a:r>
            <a:r>
              <a:rPr lang="fr-FR" dirty="0"/>
              <a:t> et la </a:t>
            </a:r>
            <a:r>
              <a:rPr lang="fr-FR" b="1" dirty="0"/>
              <a:t>Disponibilité intérieure</a:t>
            </a:r>
            <a:r>
              <a:rPr lang="fr-FR" dirty="0"/>
              <a:t> globale sont presque confondues (corrélation quasi parfaite). Cet axe vertical isole les pays à très forte volumétrie de consommation, indispensables pour réaliser des économies d'échelle, mais nécessitant une logistique de distribution de masse.</a:t>
            </a:r>
          </a:p>
          <a:p>
            <a:r>
              <a:rPr lang="fr-FR" b="1" dirty="0"/>
              <a:t>Le pôle de la dépendance d'approvisionnement (PC2 négatif) :</a:t>
            </a:r>
            <a:r>
              <a:rPr lang="fr-FR" dirty="0"/>
              <a:t> À l'exact opposé de la masse démographique se trouve la </a:t>
            </a:r>
            <a:r>
              <a:rPr lang="fr-FR" b="1" dirty="0"/>
              <a:t>Dépendance Alimentaire</a:t>
            </a:r>
            <a:r>
              <a:rPr lang="fr-FR" dirty="0"/>
              <a:t>. Les marchés situés en bas de l'axe sont structurellement déficitaires dans leur production interne et doivent massivement importer pour couvrir leurs besoins de base, représentant à la fois une opportunité commerciale d'exportation et un risque de volatilité.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519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PC1 : Axe du niveau de développement économique et institutionnel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PC2 : Pression démographique et structure alimentaire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PC3 : Risque de volatilité des prix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PC4 : Pression alimentaire structurelle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PC5 : Comportements atypiques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426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Importation – Logistique –PIB</a:t>
            </a:r>
          </a:p>
          <a:p>
            <a:r>
              <a:rPr lang="fr-FR" dirty="0"/>
              <a:t>Disponibilité –Population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737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PC1 : Axe du niveau de développement économique et institutionnel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PC2 : Pression démographique et structure alimentaire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PC3 : Risque de volatilité des prix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PC4 : Pression alimentaire structurelle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PC5 : Comportements atypiques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04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Classification ascendante hiérarchique</a:t>
            </a:r>
          </a:p>
          <a:p>
            <a:endParaRPr lang="fr-FR" dirty="0"/>
          </a:p>
          <a:p>
            <a:r>
              <a:rPr lang="fr-FR" dirty="0"/>
              <a:t>Différent avec </a:t>
            </a:r>
            <a:r>
              <a:rPr lang="fr-FR" dirty="0" err="1"/>
              <a:t>methode</a:t>
            </a:r>
            <a:r>
              <a:rPr lang="fr-FR" dirty="0"/>
              <a:t> de la silhouette, donc cluster pas assez distinct avec cette méthode</a:t>
            </a:r>
          </a:p>
          <a:p>
            <a:r>
              <a:rPr lang="fr-FR" dirty="0"/>
              <a:t>Permet de mesurer la qualité de la </a:t>
            </a:r>
            <a:r>
              <a:rPr lang="fr-FR" dirty="0" err="1"/>
              <a:t>classificiation</a:t>
            </a:r>
            <a:r>
              <a:rPr lang="fr-FR" dirty="0"/>
              <a:t> en évaluent si chaque point de donnée est bien à sa place dans son groupe (Trouver le nombre optimal de cluster et détecter les </a:t>
            </a:r>
            <a:r>
              <a:rPr lang="fr-FR" dirty="0" err="1"/>
              <a:t>Outliers</a:t>
            </a:r>
            <a:r>
              <a:rPr lang="fr-FR"/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08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PC1 : Axe du niveau de développement économique et institutionnel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PC2 : Pression démographique et structure alimentaire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PC3 : Risque de volatilité des prix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PC4 : Pression alimentaire structurelle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PC5 : Comportements atypiques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489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K-Means est un algorithme de partitionnement, il divise un ensemble de données en K nombre distincts et homogène (les clusters), Il fonctionne de manière itérative (</a:t>
            </a:r>
            <a:r>
              <a:rPr lang="fr-FR" dirty="0" err="1"/>
              <a:t>repete</a:t>
            </a:r>
            <a:r>
              <a:rPr lang="fr-FR" dirty="0"/>
              <a:t> ses étapes)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Nombre de groupe souhaité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Association au </a:t>
            </a:r>
            <a:r>
              <a:rPr lang="fr-FR" dirty="0" err="1"/>
              <a:t>centroide</a:t>
            </a:r>
            <a:r>
              <a:rPr lang="fr-FR" dirty="0"/>
              <a:t> le plus proche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Calcul du centre de gravité (moyenne de la position des </a:t>
            </a:r>
            <a:r>
              <a:rPr lang="fr-FR" dirty="0" err="1"/>
              <a:t>pointsà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Répatition</a:t>
            </a:r>
            <a:r>
              <a:rPr lang="fr-FR" dirty="0"/>
              <a:t> (</a:t>
            </a:r>
            <a:r>
              <a:rPr lang="fr-FR" dirty="0" err="1"/>
              <a:t>itérationà</a:t>
            </a:r>
            <a:r>
              <a:rPr lang="fr-FR" dirty="0"/>
              <a:t> jusqu’à convergence =&gt; </a:t>
            </a:r>
            <a:r>
              <a:rPr lang="fr-FR" dirty="0" err="1"/>
              <a:t>arret</a:t>
            </a:r>
            <a:r>
              <a:rPr lang="fr-FR" dirty="0"/>
              <a:t> du mouvement des </a:t>
            </a:r>
            <a:r>
              <a:rPr lang="fr-FR" dirty="0" err="1"/>
              <a:t>centroide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621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Centroide</a:t>
            </a:r>
            <a:r>
              <a:rPr lang="fr-FR" dirty="0"/>
              <a:t> : Représentation central d’un cluster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D85E8-092A-4068-A176-5B0A5B0363C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25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6B6A7-7F3E-8B11-91C7-79752295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B2F701-30EC-D14A-3147-72B67A3C8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8170B0-DA97-B379-DB00-6580C210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4BCD-F637-4824-96EC-898673A0829A}" type="datetime1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C92CE-1831-2042-2E9F-8B6EFA0F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2142B7-13CD-F1C4-B53E-35BAEA4A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96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0F304-5314-FAA1-072C-92213206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6F130B-BC38-2785-C075-88C3FC303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DAA190-2270-6490-5A08-1FCC0F88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1506-1192-4FB4-A4BD-A5664773C538}" type="datetime1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0058E2-FD62-B66A-C328-25375B7D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CBF5F-306F-46FF-AB62-51D6E5DC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6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54BE88-B296-BECB-A5E8-2F7AE789D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8113AA-0F0B-E30B-F22F-E714F830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6D7AA1-2701-BDA3-449B-35AD42C5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0B37-9824-4BFA-BB25-DA61F80C9D5B}" type="datetime1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CF03F-1075-DBED-FC04-C6EB34C1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C5C499-454F-C7A8-81AC-BB0425F7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07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8723AF-2DA7-B201-E77B-98AFE499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52A705-59CC-3710-C3E7-989F19583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AD7E18-52BF-42AC-2F35-566B90995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65E1B5-D44A-D0A5-2465-7299FC71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CA5F-FF23-4B6E-870D-0B3ACCDDD298}" type="datetime1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442F70-4250-68AE-55B8-08D4A2EC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A190AE-E7CA-1A84-E89E-A2FAAB34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61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720F93-FBB9-5E37-3286-C0019481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9B2825-CEB0-F0D7-FDE5-AC5DF259C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6776E4-9291-1BCE-91BB-E5D2F4433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8D6D94-013C-43C3-9047-07D161FCE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F2E1E23-EBBD-208A-550C-F1834E641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6501C5-3484-928F-3F91-1F765FC7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9A31-52F2-4286-9CE9-6EBC2068EEAF}" type="datetime1">
              <a:rPr lang="fr-FR" smtClean="0"/>
              <a:t>16/07/2026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739ECCD-C558-B610-743A-BFE15325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F74FD7-8929-B079-A523-BE4E76AF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14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F79AF7-4110-1FBE-6002-2869F18A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140ECF-0EDC-CC05-9D4C-63EED356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2985C-5EBA-4244-A44A-D98DC403B9AB}" type="datetime1">
              <a:rPr lang="fr-FR" smtClean="0"/>
              <a:t>16/07/2026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E47614-69AF-1774-2C38-ABF5A76D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D886A1-4326-4FB8-C068-536425E5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1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0774D3-4D70-4FD7-F306-C736324B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A764-FFA9-4F2A-9D58-E9A8F27282D1}" type="datetime1">
              <a:rPr lang="fr-FR" smtClean="0"/>
              <a:t>16/07/2026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EF89502-000B-493D-ADA4-60905E77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5E971C-76F0-5B8C-00B7-F0AEDCB8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04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0A03A-1120-4A81-557B-FA4B1EC7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5E57F7-5931-FBF6-26E2-93FDE25C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824AF07-5227-1F52-A16A-A28644853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AF448F-2AF0-ED3E-C1F9-F4B38B92C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AEC2-EADD-4055-A433-6A5015AA1C67}" type="datetime1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0BB18E-4F7C-3F15-56C3-D4A81EC6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E6996D-6798-8A69-1DAE-42E588C2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63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D7A18-5086-917F-ED68-C94E9EB9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347302-D5CE-D966-D7F0-830D3EB58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B4D9A8-CDAD-F455-03E9-E406D347C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948892-5C1E-1265-E5B0-125940FA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86E8A-DA0D-4A9D-8BA2-B3C538F6DC7F}" type="datetime1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6EB373-6720-6E5E-0F2C-EE1E8638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694C27-2623-2B63-6D01-BB5F8392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77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06F02E-9BBC-2CDF-0DE5-1CF477B4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9F8403-D427-0E15-1E81-CF4340CAA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B8F920-69DB-EEDC-7BB1-AFDEEA64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8D01-A22D-492C-9DCE-01B03A5F1FED}" type="datetime1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7CA22B-2119-9A9C-DDA1-83EF356A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6ED2A9-BC38-3DE3-636D-EE95DF2C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2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5EDE3E3-1A3A-5059-DF6E-7895DA57D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50F2AB-BEA3-1E7D-7575-1BD92D889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B1D8F-4F3D-5078-0119-5F0EA347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CFA3-2E8B-4042-89FA-E8280DDCCBF0}" type="datetime1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C03503-6E79-5CF7-B27B-AE85ED49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F6A4BB-66AA-A642-54BB-012EF2C7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84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4F5D9F-098F-E6A6-24E6-7B56B750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1F437D-E04C-307E-4464-FF4A70975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D8128D-9D6B-8F8D-E2C3-88809EA17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75C91-12CD-4A3A-82EC-DE7D6946D6E0}" type="datetime1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8D6E6A-3B84-4280-183E-C1E5FEA00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CE4A64-029F-08AB-419F-4DE9610BB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1A661-AFC3-4626-95F1-277F7BB42F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74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oulet sous des arbres">
            <a:extLst>
              <a:ext uri="{FF2B5EF4-FFF2-40B4-BE49-F238E27FC236}">
                <a16:creationId xmlns:a16="http://schemas.microsoft.com/office/drawing/2014/main" id="{C7CBA2C5-CE0B-4CA4-D83A-37AFAA799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4634" y="-302808"/>
            <a:ext cx="12527257" cy="746361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6905AAD-B105-DC05-D4C5-24C1874B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303F17B-9918-96AF-C154-7F2B827784AF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7023B17-D40C-E6C4-ACDB-5A60D3462463}"/>
              </a:ext>
            </a:extLst>
          </p:cNvPr>
          <p:cNvSpPr txBox="1"/>
          <p:nvPr/>
        </p:nvSpPr>
        <p:spPr>
          <a:xfrm>
            <a:off x="897673" y="1565726"/>
            <a:ext cx="10102645" cy="19082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Etude de marché </a:t>
            </a:r>
          </a:p>
          <a:p>
            <a:pPr algn="ctr"/>
            <a:r>
              <a:rPr lang="fr-FR" sz="3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Développement à l’international</a:t>
            </a:r>
          </a:p>
          <a:p>
            <a:pPr algn="ctr"/>
            <a:endParaRPr lang="fr-FR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poule qui chante</a:t>
            </a:r>
          </a:p>
          <a:p>
            <a:pPr algn="ctr"/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(Poulet Agriculture Biologique)</a:t>
            </a:r>
          </a:p>
        </p:txBody>
      </p:sp>
    </p:spTree>
    <p:extLst>
      <p:ext uri="{BB962C8B-B14F-4D97-AF65-F5344CB8AC3E}">
        <p14:creationId xmlns:p14="http://schemas.microsoft.com/office/powerpoint/2010/main" val="287328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DC5689A3-A478-63B6-CD55-8F2CDBDB6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009FD0D-7960-94F7-5E7C-EF64B0DE14E0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C61B804-C971-635E-CCA0-20AF531C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234106-8FB7-F812-E07E-9B19E96DC897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2ADDF6-32B8-C46B-FACE-BD0D929A4093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Contexte de l’étude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C9AD8670-693A-FB22-700F-1CF4F6EA3832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1FFC958-68CB-1E65-0FD6-04E221CB9C22}"/>
              </a:ext>
            </a:extLst>
          </p:cNvPr>
          <p:cNvSpPr txBox="1"/>
          <p:nvPr/>
        </p:nvSpPr>
        <p:spPr>
          <a:xfrm>
            <a:off x="940209" y="1910300"/>
            <a:ext cx="102329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Afin d’étudier la possibilité d’un développement à l’international notre entreprise doit pouvoir évaluer et envisager tous les pays. Pour cela, nous avons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Utilisé une analyse PESTEL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Extraire et traiter les données nécessaires à l’étude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Réalisé une analyse en composantes principales (ACP)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Réalisé un clustering pour choisir les pays les plus avantageux</a:t>
            </a:r>
          </a:p>
        </p:txBody>
      </p:sp>
    </p:spTree>
    <p:extLst>
      <p:ext uri="{BB962C8B-B14F-4D97-AF65-F5344CB8AC3E}">
        <p14:creationId xmlns:p14="http://schemas.microsoft.com/office/powerpoint/2010/main" val="404852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024E-759A-7058-A385-15E8FB10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CBD57291-ED79-93CE-3B09-43B440CAF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FF371F-764E-CFE1-C4B4-60F3F9C54874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76E304-B080-51B1-E162-2E4931F1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028DE3-3E7F-65A5-D4BB-4DF089532241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E0D7682-A9C4-AC52-46EF-D5B3EEB2F9FC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PESTEL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47812E4-94CE-6018-3E8C-304EC51A9C8E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446F8B-C1E8-7CD1-D840-B93C1DC542AD}"/>
              </a:ext>
            </a:extLst>
          </p:cNvPr>
          <p:cNvSpPr txBox="1"/>
          <p:nvPr/>
        </p:nvSpPr>
        <p:spPr>
          <a:xfrm>
            <a:off x="940209" y="1369125"/>
            <a:ext cx="10232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Examen des facteurs :</a:t>
            </a:r>
          </a:p>
          <a:p>
            <a:r>
              <a:rPr lang="fr-FR" b="1" dirty="0"/>
              <a:t>P</a:t>
            </a:r>
            <a:r>
              <a:rPr lang="fr-FR" dirty="0"/>
              <a:t>olitiques, </a:t>
            </a:r>
            <a:r>
              <a:rPr lang="fr-FR" b="1" dirty="0"/>
              <a:t>E</a:t>
            </a:r>
            <a:r>
              <a:rPr lang="fr-FR" dirty="0"/>
              <a:t>conomiques, </a:t>
            </a:r>
            <a:r>
              <a:rPr lang="fr-FR" b="1" dirty="0"/>
              <a:t>S</a:t>
            </a:r>
            <a:r>
              <a:rPr lang="fr-FR" dirty="0"/>
              <a:t>ociaux, </a:t>
            </a:r>
            <a:r>
              <a:rPr lang="fr-FR" b="1" dirty="0"/>
              <a:t>T</a:t>
            </a:r>
            <a:r>
              <a:rPr lang="fr-FR" dirty="0"/>
              <a:t>echnologiques, </a:t>
            </a:r>
            <a:r>
              <a:rPr lang="fr-FR" b="1" dirty="0"/>
              <a:t>E</a:t>
            </a:r>
            <a:r>
              <a:rPr lang="fr-FR" dirty="0"/>
              <a:t>nvironnementaux et </a:t>
            </a:r>
            <a:r>
              <a:rPr lang="fr-FR" b="1" dirty="0"/>
              <a:t>L</a:t>
            </a:r>
            <a:r>
              <a:rPr lang="fr-FR" dirty="0"/>
              <a:t>égaux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8E82D9F-66A7-83F5-1F0A-9F4D76EF2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303985"/>
              </p:ext>
            </p:extLst>
          </p:nvPr>
        </p:nvGraphicFramePr>
        <p:xfrm>
          <a:off x="1317523" y="2193155"/>
          <a:ext cx="8803148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8077">
                  <a:extLst>
                    <a:ext uri="{9D8B030D-6E8A-4147-A177-3AD203B41FA5}">
                      <a16:colId xmlns:a16="http://schemas.microsoft.com/office/drawing/2014/main" val="4183969302"/>
                    </a:ext>
                  </a:extLst>
                </a:gridCol>
                <a:gridCol w="3415071">
                  <a:extLst>
                    <a:ext uri="{9D8B030D-6E8A-4147-A177-3AD203B41FA5}">
                      <a16:colId xmlns:a16="http://schemas.microsoft.com/office/drawing/2014/main" val="46358151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Catégorie PESTEL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368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Population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Social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961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Croissance démographique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Social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39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PIB par habitant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Economique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1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Economique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305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Croissance de l’inflation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Economique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489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Importation (millier de tonne)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Economique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5987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Disponibilité intérieure (millier de tonne)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Economique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21729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Dépendance alimentaire (millier de tonne)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Economique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0696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Indice logistique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Technologique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132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Stabilité politique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Politique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635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27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67E5-EDC6-3CAC-7850-7D7C85D1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90A6C084-4677-9755-1AAF-8BAD097DF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07BB307-32BC-1B27-10C2-568E6FD2E1EF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3C4B4E5-B40C-7301-771D-F2C66C8D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4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6BEB8D-4885-0548-03A4-28B20552258F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B2B3678-A724-9D13-B6F4-8955C21E7F80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Données utilisées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3B8E0915-1BAE-C108-FCB7-A128C98C3200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9B2A99-2D84-2322-660A-6CA027E5F158}"/>
              </a:ext>
            </a:extLst>
          </p:cNvPr>
          <p:cNvSpPr txBox="1"/>
          <p:nvPr/>
        </p:nvSpPr>
        <p:spPr>
          <a:xfrm>
            <a:off x="940209" y="1225634"/>
            <a:ext cx="102329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On part de données fournies par l’entreprise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New Food Balances </a:t>
            </a:r>
            <a:r>
              <a:rPr lang="fr-FR" dirty="0"/>
              <a:t>(FAO)</a:t>
            </a:r>
          </a:p>
          <a:p>
            <a:r>
              <a:rPr lang="fr-FR" dirty="0"/>
              <a:t>	- Importation</a:t>
            </a:r>
          </a:p>
          <a:p>
            <a:r>
              <a:rPr lang="fr-FR" dirty="0"/>
              <a:t>	- Disponibilité intérieure</a:t>
            </a:r>
          </a:p>
          <a:p>
            <a:r>
              <a:rPr lang="fr-FR" dirty="0"/>
              <a:t>	- Dépendance alimentaire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Population 2000-2018</a:t>
            </a:r>
          </a:p>
          <a:p>
            <a:r>
              <a:rPr lang="fr-FR" dirty="0"/>
              <a:t>	-  Population</a:t>
            </a:r>
          </a:p>
          <a:p>
            <a:r>
              <a:rPr lang="fr-FR" dirty="0"/>
              <a:t>	-  Croissance démographique</a:t>
            </a:r>
          </a:p>
          <a:p>
            <a:endParaRPr lang="fr-FR" dirty="0"/>
          </a:p>
          <a:p>
            <a:r>
              <a:rPr lang="fr-FR" b="1" dirty="0"/>
              <a:t>On récupère ensuite des données complémentaires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Indice Logistique</a:t>
            </a:r>
            <a:r>
              <a:rPr lang="fr-FR" dirty="0"/>
              <a:t> (Banque mondiale)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GNI Per Capita PPP</a:t>
            </a:r>
            <a:r>
              <a:rPr lang="fr-FR" dirty="0"/>
              <a:t> (Banque mondiale)</a:t>
            </a:r>
          </a:p>
          <a:p>
            <a:pPr lvl="1"/>
            <a:r>
              <a:rPr lang="fr-FR" dirty="0"/>
              <a:t>	- PIB par habitant</a:t>
            </a:r>
          </a:p>
          <a:p>
            <a:pPr lvl="1"/>
            <a:r>
              <a:rPr lang="fr-FR" dirty="0"/>
              <a:t>	- Stabilité politique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Inflation</a:t>
            </a:r>
            <a:r>
              <a:rPr lang="fr-FR" dirty="0"/>
              <a:t> (Banque mondiale)</a:t>
            </a:r>
          </a:p>
          <a:p>
            <a:r>
              <a:rPr lang="fr-FR" dirty="0"/>
              <a:t>	- Croissance de l’inflation</a:t>
            </a:r>
          </a:p>
          <a:p>
            <a:r>
              <a:rPr lang="fr-FR" dirty="0"/>
              <a:t>	- Inflation</a:t>
            </a:r>
          </a:p>
        </p:txBody>
      </p:sp>
    </p:spTree>
    <p:extLst>
      <p:ext uri="{BB962C8B-B14F-4D97-AF65-F5344CB8AC3E}">
        <p14:creationId xmlns:p14="http://schemas.microsoft.com/office/powerpoint/2010/main" val="407024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7E6E2-47A0-E752-E5E0-134D6B22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E3CD11E7-A1B7-4974-14B6-752753266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01980D5-F139-8F49-104F-F0A8051A519F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CE93EE8-E468-E8E6-855B-2EAED528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5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9AF226-3A7F-9E53-63A7-EC0E3673ECA5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894206-FE51-BE78-D140-7C18C6451D87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Préparation et nettoyage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4A09820-2825-94CE-7255-55B1AEB1C85F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A59961-4F7C-958E-2F48-4B748EF151B2}"/>
              </a:ext>
            </a:extLst>
          </p:cNvPr>
          <p:cNvSpPr txBox="1"/>
          <p:nvPr/>
        </p:nvSpPr>
        <p:spPr>
          <a:xfrm>
            <a:off x="940209" y="1225634"/>
            <a:ext cx="102329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Filtre sur la viande de volaille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Conservation des données nécessaires à l’étude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Calculs nécessaires à l’étude (</a:t>
            </a:r>
            <a:r>
              <a:rPr lang="fr-FR" sz="1600" dirty="0" err="1"/>
              <a:t>Feature</a:t>
            </a:r>
            <a:r>
              <a:rPr lang="fr-FR" sz="1600" dirty="0"/>
              <a:t> engineering)</a:t>
            </a:r>
          </a:p>
          <a:p>
            <a:r>
              <a:rPr lang="fr-FR" sz="1600" dirty="0"/>
              <a:t>- Dépendance alimentaire</a:t>
            </a:r>
          </a:p>
          <a:p>
            <a:r>
              <a:rPr lang="fr-FR" sz="1600" dirty="0"/>
              <a:t>- Taux de croissance de la population</a:t>
            </a:r>
          </a:p>
          <a:p>
            <a:r>
              <a:rPr lang="fr-FR" sz="1600" dirty="0"/>
              <a:t>- Evolution de l’inflation</a:t>
            </a:r>
          </a:p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Renommer des colonnes pour davantage de lisibilité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Renommer certains pays (exemple : Iran (République islamique d’) en Iran)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Traduire le nom des pays qui étaient en anglais (Données de la banque mondiale)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Suppression ou complétion en cas de données vides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Vérifier que ma base de données comprend bien au moins 100 pays et 60% de la population mondiale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394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7F4A-066A-7430-B091-0EF35555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67943591-2112-EDFE-0FFF-EF44EE6E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2F24317-8469-8893-7A7F-626A2FC0338C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1E7888E-2772-F5C2-AC6B-CF5F04EF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6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B7F427A-41CB-37E7-B22D-9B850C318BE3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FB29A5-5134-7CEC-75DA-8E79A86AC495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Méthodologie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73BD3297-ABB4-5CDD-3A80-A1898FAC2CA9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60E7E30-B35B-C00D-B8D3-3289CF5FCEA8}"/>
              </a:ext>
            </a:extLst>
          </p:cNvPr>
          <p:cNvSpPr txBox="1"/>
          <p:nvPr/>
        </p:nvSpPr>
        <p:spPr>
          <a:xfrm>
            <a:off x="940209" y="1225634"/>
            <a:ext cx="102329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Maintenant que ma base de données est propre, nous passons à l’étude. Il faudra donc: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Normaliser les variables pour les avoirs à la même échelle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Calculer de l’ACP</a:t>
            </a:r>
          </a:p>
          <a:p>
            <a:r>
              <a:rPr lang="fr-FR" dirty="0"/>
              <a:t>	- Nombre de composantes</a:t>
            </a:r>
          </a:p>
          <a:p>
            <a:r>
              <a:rPr lang="fr-FR" dirty="0"/>
              <a:t>	- Cercles de corrélations</a:t>
            </a:r>
          </a:p>
          <a:p>
            <a:r>
              <a:rPr lang="fr-FR" dirty="0"/>
              <a:t>	- Projections des pays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Classification ascendante hiérarchique (CAH)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Etude des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Résultats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148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F3947-A554-895F-54D8-7E6F4A45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3FFF7A3D-F1B7-8233-8FCA-8BCBB18CF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95B38D7-00BB-C7DE-952C-222A4901A789}"/>
              </a:ext>
            </a:extLst>
          </p:cNvPr>
          <p:cNvSpPr/>
          <p:nvPr/>
        </p:nvSpPr>
        <p:spPr>
          <a:xfrm>
            <a:off x="-243841" y="-213581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ADAD076-C055-6955-425D-067B1A45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7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9EF9A8-3F19-4E0E-FD21-420ECF629014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24AC0EF-A56B-E123-4D5F-9A883ECFB690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Composantes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13CCE6F5-D843-9394-65DE-AD76AB868FD6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67C0C22-6809-8C60-AC5C-B986CDC669F2}"/>
              </a:ext>
            </a:extLst>
          </p:cNvPr>
          <p:cNvSpPr txBox="1"/>
          <p:nvPr/>
        </p:nvSpPr>
        <p:spPr>
          <a:xfrm>
            <a:off x="855406" y="1225634"/>
            <a:ext cx="106143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u="sng" dirty="0"/>
              <a:t>Une composante</a:t>
            </a:r>
            <a:r>
              <a:rPr lang="fr-FR" dirty="0"/>
              <a:t> en ACP est un axe latent qui résume l’information commune de plusieurs variables en une seule dimension indépendante. </a:t>
            </a:r>
          </a:p>
          <a:p>
            <a:endParaRPr lang="fr-FR" dirty="0"/>
          </a:p>
          <a:p>
            <a:r>
              <a:rPr lang="fr-FR" dirty="0"/>
              <a:t>Après calcul de l’ACP, j’utilise la méthode du coude qui me donne 5 composantes. </a:t>
            </a:r>
          </a:p>
          <a:p>
            <a:endParaRPr lang="fr-FR" dirty="0"/>
          </a:p>
          <a:p>
            <a:r>
              <a:rPr lang="fr-FR" dirty="0"/>
              <a:t>J’ai pu ensuite regarder la contribution de chaque variable pour celles-ci et tirer 5 thèmes (ou tendances)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PC1 : Axe du niveau de développement économique et institutionnel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PC2 : Pression démographique et structure alimentaire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PC3 : Risque de volatilité des prix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PC4 : Pression alimentaire structurelle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PC5 : Comportements atypiques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1469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8D67-7815-9A49-E32F-89ED6106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20281350-01AF-D433-E7A9-7C0B102A7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E36F764-86D3-662F-1516-2A837EDBBB74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246BA58-0524-64CA-110E-2D77C58E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8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35D34CF-0820-8EE9-4683-2D726568A10F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90C7EE5-CD9E-CC66-680F-81DE5E3093D9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Composantes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38D19713-A230-FD74-9AD6-53C2E0E95217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F23EEF-F037-7447-99AB-399CBC77648C}"/>
              </a:ext>
            </a:extLst>
          </p:cNvPr>
          <p:cNvSpPr txBox="1"/>
          <p:nvPr/>
        </p:nvSpPr>
        <p:spPr>
          <a:xfrm>
            <a:off x="940209" y="1225634"/>
            <a:ext cx="103373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À la suite de ces « Thèmes », j’ai également créé des cercles de corrélation pour une meilleure visualisation :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9BD8F6-11F5-C8E3-FFB4-1A6898F5E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428" y="2102797"/>
            <a:ext cx="4195609" cy="365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8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8DC4-1702-1414-ADCA-5F4ED4D1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C9C6D7CD-AC05-8D09-3543-AEE59A4B1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CCB51CE-86D9-4D14-95CF-8885A3FFB22A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82B16E-EBB7-64FA-7191-B7AAFCB2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9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481F1F8-7405-5692-2ABA-423BD17BE344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895B342-A9C4-6063-DDC9-632F4E758F94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Composantes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E7A40BD5-B2BE-7E44-13D7-49E25CE88D12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7A91CA-FCE3-FF95-E8E0-F15BCC80EFE6}"/>
              </a:ext>
            </a:extLst>
          </p:cNvPr>
          <p:cNvSpPr txBox="1"/>
          <p:nvPr/>
        </p:nvSpPr>
        <p:spPr>
          <a:xfrm>
            <a:off x="940209" y="1225634"/>
            <a:ext cx="103373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peut également visualiser une </a:t>
            </a:r>
            <a:r>
              <a:rPr lang="fr-FR" dirty="0" err="1"/>
              <a:t>heatmap</a:t>
            </a:r>
            <a:r>
              <a:rPr lang="fr-FR" dirty="0"/>
              <a:t> des contributions des variables aux composantes : 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3413BE8-526D-F4D3-168C-C01749D0E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607" y="1794968"/>
            <a:ext cx="6743251" cy="430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2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3B65-F3EA-6848-F88B-4BFB39A5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97A13733-1B1B-C8BD-C6D8-E8F36AA36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D0200DF-A762-D5A2-7AF9-1599FD185E5D}"/>
              </a:ext>
            </a:extLst>
          </p:cNvPr>
          <p:cNvSpPr/>
          <p:nvPr/>
        </p:nvSpPr>
        <p:spPr>
          <a:xfrm>
            <a:off x="-221933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B59D7F5-8BA4-6B99-8FC4-FFBA826C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10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E7E0A53-764D-8A18-6B0A-68B34E504C5C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8B46F91-B302-95EC-CC01-6D3B4A81D594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Composantes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773802A-54B4-3BC3-74FC-3DD9D4F3E9AA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ED3ADE2-0F3F-98AA-F946-025DFEE6E74D}"/>
              </a:ext>
            </a:extLst>
          </p:cNvPr>
          <p:cNvSpPr txBox="1"/>
          <p:nvPr/>
        </p:nvSpPr>
        <p:spPr>
          <a:xfrm>
            <a:off x="940209" y="1225634"/>
            <a:ext cx="103373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Ainsi que les corrélations entre les variables 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3D2985-21A5-0527-2D06-4409EE76D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41" y="1094621"/>
            <a:ext cx="5804720" cy="53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C1A0A-F312-8D78-A7B3-B98B5D22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333EFF12-B394-DD3A-C59C-06DB543E3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6EA4C6-A81B-8B59-2CEC-E9011DD5D825}"/>
              </a:ext>
            </a:extLst>
          </p:cNvPr>
          <p:cNvSpPr/>
          <p:nvPr/>
        </p:nvSpPr>
        <p:spPr>
          <a:xfrm>
            <a:off x="-221933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30D78AE-96C2-CDFB-973C-1D9C33DB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11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3FEABC7-6D38-A055-102C-26D0275499F6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A125C84-D0D3-BAA4-77FA-8F55C4F55D40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Composantes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24B4D2C-B763-A8AA-AE25-53879082EDE8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F3624A3-FBE1-95B6-4049-1CB7B9300FB7}"/>
              </a:ext>
            </a:extLst>
          </p:cNvPr>
          <p:cNvSpPr txBox="1"/>
          <p:nvPr/>
        </p:nvSpPr>
        <p:spPr>
          <a:xfrm>
            <a:off x="940209" y="1225634"/>
            <a:ext cx="103373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composantes PC1 et PC2 sont les plus intéressantes pour cette étude, on réalise donc une projection par pays. Cependant, la dépendance alimentaire avec PC4 serait également utile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3C9BCD1-1373-07EB-BF99-5474DB71B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54" y="1998738"/>
            <a:ext cx="5570946" cy="385105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4351CD7-EA32-DDE3-526E-D94BFA087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275" y="2102283"/>
            <a:ext cx="5323048" cy="364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2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282D-AC1B-3BDA-3C17-B2FDC56E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20682428-D9AF-DF13-3C36-79FABBF89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7A45D2A-640A-F688-FD15-B493D5BE8F09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1E0C8AD-2CC1-73B9-9984-469F3DD8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D2EB70-6545-623A-BFA4-557EC57FAA40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BC88D21-FC5E-92D1-25ED-34BBF5D9AE6B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 (CAH)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2003FCA-9DEB-6620-7BE9-138818E90A7C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AED92FD-F269-B232-D08D-98C2A984DBAA}"/>
              </a:ext>
            </a:extLst>
          </p:cNvPr>
          <p:cNvSpPr txBox="1"/>
          <p:nvPr/>
        </p:nvSpPr>
        <p:spPr>
          <a:xfrm>
            <a:off x="940209" y="1225634"/>
            <a:ext cx="103373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Le clustering</a:t>
            </a:r>
            <a:r>
              <a:rPr lang="fr-FR" dirty="0"/>
              <a:t> consiste à former des groupes d’éléments qui se ressemblent.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06547A1-101D-B266-D68C-77C1E36FC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06" y="1812291"/>
            <a:ext cx="5915851" cy="454405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6FACA38-5F5F-4A67-8DB6-F35F3427F22C}"/>
              </a:ext>
            </a:extLst>
          </p:cNvPr>
          <p:cNvSpPr txBox="1"/>
          <p:nvPr/>
        </p:nvSpPr>
        <p:spPr>
          <a:xfrm>
            <a:off x="7289083" y="2641925"/>
            <a:ext cx="3706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J’utilise également la </a:t>
            </a:r>
            <a:r>
              <a:rPr lang="fr-FR" u="sng" dirty="0"/>
              <a:t>méthode de la silhouette </a:t>
            </a:r>
            <a:r>
              <a:rPr lang="fr-FR" dirty="0"/>
              <a:t>pour valider mon nombre de clusters qui s’optimise à 2</a:t>
            </a:r>
          </a:p>
        </p:txBody>
      </p:sp>
    </p:spTree>
    <p:extLst>
      <p:ext uri="{BB962C8B-B14F-4D97-AF65-F5344CB8AC3E}">
        <p14:creationId xmlns:p14="http://schemas.microsoft.com/office/powerpoint/2010/main" val="124978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A367-E87B-4502-1236-DB8E986E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86E8B41A-63E4-B662-D0E5-12D210A6A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598AD2-F293-F9A8-6162-C50DCB03ADDC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E1BDFCC-A230-D00F-EE47-36E52FBE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39DA8B4-121C-0D0E-2D86-D64B4091EF99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8FC3F9C-F259-9D1C-B320-E2A0F106ED04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 (CAH)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ED17D461-B229-14E4-52E0-0A68FBC2702C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D42A49-7955-1E3C-A67B-F2172D1B7CCB}"/>
              </a:ext>
            </a:extLst>
          </p:cNvPr>
          <p:cNvSpPr txBox="1"/>
          <p:nvPr/>
        </p:nvSpPr>
        <p:spPr>
          <a:xfrm>
            <a:off x="940209" y="1225634"/>
            <a:ext cx="10337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 on visualise les clusters pour PC1 vs PC2, on obtient :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1A686F-A225-8FBA-AC65-5518A8E0D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5691" y="1703114"/>
            <a:ext cx="5782482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94BB-9CFB-7E6D-8B57-7B74488F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830A6CB0-DE36-6555-1B80-3E4FEC79B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2E3F8CD-D427-244C-8426-89EDD107D379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5BE6CB0-CDDA-F21A-38FC-AA4B8721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14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3D625F-8FDD-43E2-1EF0-0131B61292D2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A4EFF8-2768-81EF-19CE-43B4BCC31042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 (K-</a:t>
            </a:r>
            <a:r>
              <a:rPr lang="fr-FR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mean</a:t>
            </a:r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5F17783-1688-39D7-3C3E-1BB052EF3C04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7E363B-5603-81BA-0659-B201FF6B47C0}"/>
              </a:ext>
            </a:extLst>
          </p:cNvPr>
          <p:cNvSpPr txBox="1"/>
          <p:nvPr/>
        </p:nvSpPr>
        <p:spPr>
          <a:xfrm>
            <a:off x="940209" y="1225634"/>
            <a:ext cx="10337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Je vais utiliser la méthode du coude pour K-</a:t>
            </a:r>
            <a:r>
              <a:rPr lang="fr-FR" dirty="0" err="1"/>
              <a:t>mean</a:t>
            </a:r>
            <a:r>
              <a:rPr lang="fr-FR" dirty="0"/>
              <a:t> :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CD86F2B-C6AE-E54E-F5BF-346391AE2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02782"/>
            <a:ext cx="6020640" cy="382958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B2F0B40-B888-39A5-654F-117131641C57}"/>
              </a:ext>
            </a:extLst>
          </p:cNvPr>
          <p:cNvSpPr txBox="1"/>
          <p:nvPr/>
        </p:nvSpPr>
        <p:spPr>
          <a:xfrm>
            <a:off x="7289083" y="2641925"/>
            <a:ext cx="3706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Puis réutiliser la méthode de la silhouette pour confirmer, et ainsi obtenir un nombre optimal de clusters de 3.</a:t>
            </a:r>
          </a:p>
          <a:p>
            <a:endParaRPr lang="fr-FR" dirty="0"/>
          </a:p>
          <a:p>
            <a:r>
              <a:rPr lang="fr-FR" dirty="0"/>
              <a:t>C’est la méthode que je choisis</a:t>
            </a:r>
          </a:p>
        </p:txBody>
      </p:sp>
    </p:spTree>
    <p:extLst>
      <p:ext uri="{BB962C8B-B14F-4D97-AF65-F5344CB8AC3E}">
        <p14:creationId xmlns:p14="http://schemas.microsoft.com/office/powerpoint/2010/main" val="2874972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B35B7-2985-EC54-C0DA-71FFE411B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4B3E57D7-6C70-B555-B383-9E4D6FCB7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FD93DDF-4B1E-478F-61B5-017742C88527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8462591-DFFE-D611-9C0D-413FBF10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15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8D475A-7712-5A13-32D7-DDA1B9CE3233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429C11-56D4-B85B-8BB1-5B965CA5C18E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Descriptions des clusters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6E020A4-D1DB-DEAE-9A78-C40BE39972AC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99C8AF-E563-DF22-9C20-AC5948DB37F5}"/>
              </a:ext>
            </a:extLst>
          </p:cNvPr>
          <p:cNvSpPr txBox="1"/>
          <p:nvPr/>
        </p:nvSpPr>
        <p:spPr>
          <a:xfrm>
            <a:off x="940209" y="1225634"/>
            <a:ext cx="10337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Je vais visualiser mes clusters avec PC1 vs PC2 en rajoutant des centroïdes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BFDDE9-4729-4D53-585F-C5D60FAF5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25798"/>
            <a:ext cx="4305901" cy="435353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C412EEF-7772-576B-4CDD-490DFFA1D24D}"/>
              </a:ext>
            </a:extLst>
          </p:cNvPr>
          <p:cNvSpPr txBox="1"/>
          <p:nvPr/>
        </p:nvSpPr>
        <p:spPr>
          <a:xfrm>
            <a:off x="6477479" y="2548321"/>
            <a:ext cx="37067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cluster 1 comprend les pays les plus avantageux pour cette étude, soit les pays riches avec un fort développement économique et une forte pression démographique</a:t>
            </a:r>
          </a:p>
        </p:txBody>
      </p:sp>
    </p:spTree>
    <p:extLst>
      <p:ext uri="{BB962C8B-B14F-4D97-AF65-F5344CB8AC3E}">
        <p14:creationId xmlns:p14="http://schemas.microsoft.com/office/powerpoint/2010/main" val="3796432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00CE-5F3B-0B8B-60F4-40016815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90E4E114-5AE0-7A2B-EAA4-95F21B21F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D87B2E-F239-2158-B259-BF5F8E65C7BC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83C4ABB-DBE2-2ACC-7633-82D0E91D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16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B093921-88AC-6B2C-D330-29DEFEB24C53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B15562-8108-282F-365D-84587F180036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Comparaison des pays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4E64D2C-90A0-7B16-FCEF-D1D87EE3F90D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C095409-3BFC-BB0C-4F4F-469F99EDFCA3}"/>
              </a:ext>
            </a:extLst>
          </p:cNvPr>
          <p:cNvSpPr txBox="1"/>
          <p:nvPr/>
        </p:nvSpPr>
        <p:spPr>
          <a:xfrm>
            <a:off x="940209" y="1225634"/>
            <a:ext cx="103373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Maintenant que j’ai choisi mon cluster, et pour choisir les pays les plus intéressants pour notre développement, je vais créer un score à nos variables selon leur importance. </a:t>
            </a:r>
          </a:p>
          <a:p>
            <a:endParaRPr lang="fr-FR" dirty="0"/>
          </a:p>
          <a:p>
            <a:r>
              <a:rPr lang="fr-FR" dirty="0"/>
              <a:t>Nous avons donc en top 5 : 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Hong-Kong  : Trop éloigné de la France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Japon : Trop éloigné de la France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u="sng" dirty="0"/>
              <a:t>Allemagne : Choix idéal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u="sng" dirty="0"/>
              <a:t>Belgique : Choix idéal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Royaume-Uni de Grande Bretagne et d’Irlande : Hors jeu, ayant quitté l’EU récemment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8118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B3BF-FB0D-7CF3-2FBA-6056CE30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Champ de fleurs sauvages">
            <a:extLst>
              <a:ext uri="{FF2B5EF4-FFF2-40B4-BE49-F238E27FC236}">
                <a16:creationId xmlns:a16="http://schemas.microsoft.com/office/drawing/2014/main" id="{0CFDE2B2-4E5F-437A-4449-10C56D7D7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401219"/>
            <a:ext cx="12270658" cy="748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3BD682C-D58F-28E3-927A-DDC7B983268C}"/>
              </a:ext>
            </a:extLst>
          </p:cNvPr>
          <p:cNvSpPr/>
          <p:nvPr/>
        </p:nvSpPr>
        <p:spPr>
          <a:xfrm>
            <a:off x="-243841" y="-223520"/>
            <a:ext cx="12635865" cy="73076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softEdge rad="4699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79ED5EA-158F-A4A7-74DD-DA6825E7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661-AFC3-4626-95F1-277F7BB42F7D}" type="slidenum">
              <a:rPr lang="fr-FR" smtClean="0"/>
              <a:t>17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E46E36-1FEB-40B2-D29D-30DC5F580B98}"/>
              </a:ext>
            </a:extLst>
          </p:cNvPr>
          <p:cNvSpPr txBox="1"/>
          <p:nvPr/>
        </p:nvSpPr>
        <p:spPr>
          <a:xfrm>
            <a:off x="8330860" y="6390558"/>
            <a:ext cx="252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Claudie Humbert – Data Analyst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8E6CEAC-17A3-A70D-DDD1-CF48BE2904C1}"/>
              </a:ext>
            </a:extLst>
          </p:cNvPr>
          <p:cNvSpPr txBox="1"/>
          <p:nvPr/>
        </p:nvSpPr>
        <p:spPr>
          <a:xfrm>
            <a:off x="421149" y="241874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B2CC5FA-03CB-9452-9723-A05C451B73BE}"/>
              </a:ext>
            </a:extLst>
          </p:cNvPr>
          <p:cNvSpPr/>
          <p:nvPr/>
        </p:nvSpPr>
        <p:spPr>
          <a:xfrm rot="10598018">
            <a:off x="245427" y="-202621"/>
            <a:ext cx="6866084" cy="1193487"/>
          </a:xfrm>
          <a:prstGeom prst="arc">
            <a:avLst/>
          </a:prstGeom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B559AE-6281-3D67-379A-F93E624F2454}"/>
              </a:ext>
            </a:extLst>
          </p:cNvPr>
          <p:cNvSpPr txBox="1"/>
          <p:nvPr/>
        </p:nvSpPr>
        <p:spPr>
          <a:xfrm>
            <a:off x="940209" y="1225634"/>
            <a:ext cx="10337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Notre choix se portera donc sur l’Allemagne et la Belgique, pays frontaliers de notre pays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B64F6D6-B8D0-1825-B5FF-03E4A9B74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81" y="1871964"/>
            <a:ext cx="5113072" cy="398010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639556A-B865-F40E-E224-5B49DBD49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71965"/>
            <a:ext cx="4993353" cy="398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395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1474</Words>
  <Application>Microsoft Office PowerPoint</Application>
  <PresentationFormat>Grand écran</PresentationFormat>
  <Paragraphs>249</Paragraphs>
  <Slides>17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Claudie Humbert</dc:creator>
  <cp:lastModifiedBy>Claudie Humbert</cp:lastModifiedBy>
  <cp:revision>59</cp:revision>
  <dcterms:created xsi:type="dcterms:W3CDTF">2026-07-14T12:11:10Z</dcterms:created>
  <dcterms:modified xsi:type="dcterms:W3CDTF">2026-07-16T10:56:38Z</dcterms:modified>
</cp:coreProperties>
</file>